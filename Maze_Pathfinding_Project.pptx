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72" y="12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18B205D-677E-46CE-AB49-4B9EBA7EF3D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83C725E4-9421-429A-BC37-28885DE6567F}">
      <dgm:prSet/>
      <dgm:spPr/>
      <dgm:t>
        <a:bodyPr/>
        <a:lstStyle/>
        <a:p>
          <a:r>
            <a:rPr lang="en-US" b="0" i="0"/>
            <a:t>Language: Python.</a:t>
          </a:r>
          <a:endParaRPr lang="en-US"/>
        </a:p>
      </dgm:t>
    </dgm:pt>
    <dgm:pt modelId="{B9F85396-661D-44F6-B704-DC4F8249EF43}" type="parTrans" cxnId="{88EBF569-0140-448E-A3D8-3C1F4B2334FA}">
      <dgm:prSet/>
      <dgm:spPr/>
      <dgm:t>
        <a:bodyPr/>
        <a:lstStyle/>
        <a:p>
          <a:endParaRPr lang="en-US"/>
        </a:p>
      </dgm:t>
    </dgm:pt>
    <dgm:pt modelId="{69F06DEE-FEE3-4550-B7DF-4388215780C9}" type="sibTrans" cxnId="{88EBF569-0140-448E-A3D8-3C1F4B2334FA}">
      <dgm:prSet/>
      <dgm:spPr/>
      <dgm:t>
        <a:bodyPr/>
        <a:lstStyle/>
        <a:p>
          <a:endParaRPr lang="en-US"/>
        </a:p>
      </dgm:t>
    </dgm:pt>
    <dgm:pt modelId="{FBFCE947-59A1-4535-84DA-E13CBE3F1F4D}">
      <dgm:prSet/>
      <dgm:spPr/>
      <dgm:t>
        <a:bodyPr/>
        <a:lstStyle/>
        <a:p>
          <a:r>
            <a:rPr lang="en-US" b="0" i="0"/>
            <a:t>GUI Library: tkinter (Standard Library).</a:t>
          </a:r>
          <a:endParaRPr lang="en-US"/>
        </a:p>
      </dgm:t>
    </dgm:pt>
    <dgm:pt modelId="{18F8813E-D277-42C6-9DF9-B6594EB7BCC2}" type="parTrans" cxnId="{C384B961-F3E6-4F3D-8362-50C3EC844E44}">
      <dgm:prSet/>
      <dgm:spPr/>
      <dgm:t>
        <a:bodyPr/>
        <a:lstStyle/>
        <a:p>
          <a:endParaRPr lang="en-US"/>
        </a:p>
      </dgm:t>
    </dgm:pt>
    <dgm:pt modelId="{811F8A6C-1ABA-44DB-8A34-A85ED0BA31A0}" type="sibTrans" cxnId="{C384B961-F3E6-4F3D-8362-50C3EC844E44}">
      <dgm:prSet/>
      <dgm:spPr/>
      <dgm:t>
        <a:bodyPr/>
        <a:lstStyle/>
        <a:p>
          <a:endParaRPr lang="en-US"/>
        </a:p>
      </dgm:t>
    </dgm:pt>
    <dgm:pt modelId="{FC707280-75E9-491E-9876-CA1960C67EDD}">
      <dgm:prSet/>
      <dgm:spPr/>
      <dgm:t>
        <a:bodyPr/>
        <a:lstStyle/>
        <a:p>
          <a:r>
            <a:rPr lang="en-US" b="0" i="0"/>
            <a:t>Architecture: Object-Oriented Programming (OOP).</a:t>
          </a:r>
          <a:endParaRPr lang="en-US"/>
        </a:p>
      </dgm:t>
    </dgm:pt>
    <dgm:pt modelId="{9CA53F11-B799-492A-A91E-31217E69156E}" type="parTrans" cxnId="{42B59B64-CCB1-431F-8B13-60F7CA94F852}">
      <dgm:prSet/>
      <dgm:spPr/>
      <dgm:t>
        <a:bodyPr/>
        <a:lstStyle/>
        <a:p>
          <a:endParaRPr lang="en-US"/>
        </a:p>
      </dgm:t>
    </dgm:pt>
    <dgm:pt modelId="{73F40648-277B-41B6-A0F7-2DA46682ED69}" type="sibTrans" cxnId="{42B59B64-CCB1-431F-8B13-60F7CA94F852}">
      <dgm:prSet/>
      <dgm:spPr/>
      <dgm:t>
        <a:bodyPr/>
        <a:lstStyle/>
        <a:p>
          <a:endParaRPr lang="en-US"/>
        </a:p>
      </dgm:t>
    </dgm:pt>
    <dgm:pt modelId="{3C1AC65C-AFE2-464E-9E1C-B0B9E8F34E8C}">
      <dgm:prSet/>
      <dgm:spPr/>
      <dgm:t>
        <a:bodyPr/>
        <a:lstStyle/>
        <a:p>
          <a:r>
            <a:rPr lang="en-US" b="0" i="0"/>
            <a:t>- Logic Class: SearchAlgorithms (Contains the 5 algorithms).</a:t>
          </a:r>
          <a:endParaRPr lang="en-US"/>
        </a:p>
      </dgm:t>
    </dgm:pt>
    <dgm:pt modelId="{96E2AF7C-58C0-46F8-8443-51CD3EF43616}" type="parTrans" cxnId="{8423CD66-D7BD-4765-B35E-A35724DC2459}">
      <dgm:prSet/>
      <dgm:spPr/>
      <dgm:t>
        <a:bodyPr/>
        <a:lstStyle/>
        <a:p>
          <a:endParaRPr lang="en-US"/>
        </a:p>
      </dgm:t>
    </dgm:pt>
    <dgm:pt modelId="{0D7C19A6-DC7E-4F64-839C-DC734FC1927C}" type="sibTrans" cxnId="{8423CD66-D7BD-4765-B35E-A35724DC2459}">
      <dgm:prSet/>
      <dgm:spPr/>
      <dgm:t>
        <a:bodyPr/>
        <a:lstStyle/>
        <a:p>
          <a:endParaRPr lang="en-US"/>
        </a:p>
      </dgm:t>
    </dgm:pt>
    <dgm:pt modelId="{3A631260-F8C2-495E-9DE0-4263DC0072BC}">
      <dgm:prSet/>
      <dgm:spPr/>
      <dgm:t>
        <a:bodyPr/>
        <a:lstStyle/>
        <a:p>
          <a:r>
            <a:rPr lang="en-US" b="0" i="0"/>
            <a:t>- Presentation Class: MazeApp (Handles drawing and user interaction).</a:t>
          </a:r>
          <a:endParaRPr lang="en-US"/>
        </a:p>
      </dgm:t>
    </dgm:pt>
    <dgm:pt modelId="{4B58F1A0-1F5B-469C-8BD6-EBE40F3D887E}" type="parTrans" cxnId="{208BFAB9-D8A5-4D16-8BC1-830E2BDD656D}">
      <dgm:prSet/>
      <dgm:spPr/>
      <dgm:t>
        <a:bodyPr/>
        <a:lstStyle/>
        <a:p>
          <a:endParaRPr lang="en-US"/>
        </a:p>
      </dgm:t>
    </dgm:pt>
    <dgm:pt modelId="{90CA63D4-88F2-4286-8858-6E8A1B0D42DA}" type="sibTrans" cxnId="{208BFAB9-D8A5-4D16-8BC1-830E2BDD656D}">
      <dgm:prSet/>
      <dgm:spPr/>
      <dgm:t>
        <a:bodyPr/>
        <a:lstStyle/>
        <a:p>
          <a:endParaRPr lang="en-US"/>
        </a:p>
      </dgm:t>
    </dgm:pt>
    <dgm:pt modelId="{BD519110-7C6F-4FAE-9FBA-302847798CB2}">
      <dgm:prSet/>
      <dgm:spPr/>
      <dgm:t>
        <a:bodyPr/>
        <a:lstStyle/>
        <a:p>
          <a:r>
            <a:rPr lang="en-US" b="0" i="0"/>
            <a:t>Data Structures Used:</a:t>
          </a:r>
          <a:endParaRPr lang="en-US"/>
        </a:p>
      </dgm:t>
    </dgm:pt>
    <dgm:pt modelId="{54BAFCCD-1D47-41AD-8901-7C8416FEF9FA}" type="parTrans" cxnId="{155AD7B6-0FDF-4957-9192-042C5A898414}">
      <dgm:prSet/>
      <dgm:spPr/>
      <dgm:t>
        <a:bodyPr/>
        <a:lstStyle/>
        <a:p>
          <a:endParaRPr lang="en-US"/>
        </a:p>
      </dgm:t>
    </dgm:pt>
    <dgm:pt modelId="{9FE2766C-772A-4F0E-AE72-7A8C1C31551A}" type="sibTrans" cxnId="{155AD7B6-0FDF-4957-9192-042C5A898414}">
      <dgm:prSet/>
      <dgm:spPr/>
      <dgm:t>
        <a:bodyPr/>
        <a:lstStyle/>
        <a:p>
          <a:endParaRPr lang="en-US"/>
        </a:p>
      </dgm:t>
    </dgm:pt>
    <dgm:pt modelId="{EA3D233D-D322-4FCF-BB2C-2DDCFA3CC34C}">
      <dgm:prSet/>
      <dgm:spPr/>
      <dgm:t>
        <a:bodyPr/>
        <a:lstStyle/>
        <a:p>
          <a:r>
            <a:rPr lang="en-US" b="0" i="0"/>
            <a:t>- deque (Queue for BFS).</a:t>
          </a:r>
          <a:endParaRPr lang="en-US"/>
        </a:p>
      </dgm:t>
    </dgm:pt>
    <dgm:pt modelId="{F34AE7A1-E90A-4DB9-BEDF-60CDFEB1766C}" type="parTrans" cxnId="{29E6BC68-416A-4A3E-BA20-DF93D75DB78E}">
      <dgm:prSet/>
      <dgm:spPr/>
      <dgm:t>
        <a:bodyPr/>
        <a:lstStyle/>
        <a:p>
          <a:endParaRPr lang="en-US"/>
        </a:p>
      </dgm:t>
    </dgm:pt>
    <dgm:pt modelId="{9CA9FAF2-9A3A-4851-B838-DEB2D77074A7}" type="sibTrans" cxnId="{29E6BC68-416A-4A3E-BA20-DF93D75DB78E}">
      <dgm:prSet/>
      <dgm:spPr/>
      <dgm:t>
        <a:bodyPr/>
        <a:lstStyle/>
        <a:p>
          <a:endParaRPr lang="en-US"/>
        </a:p>
      </dgm:t>
    </dgm:pt>
    <dgm:pt modelId="{6753FEDA-2D8E-4B20-88CD-105CB65B112C}">
      <dgm:prSet/>
      <dgm:spPr/>
      <dgm:t>
        <a:bodyPr/>
        <a:lstStyle/>
        <a:p>
          <a:r>
            <a:rPr lang="en-US" b="0" i="0"/>
            <a:t>- list (Stack for DFS).</a:t>
          </a:r>
          <a:endParaRPr lang="en-US"/>
        </a:p>
      </dgm:t>
    </dgm:pt>
    <dgm:pt modelId="{102C6860-5576-48D9-BB5B-91CB425CC953}" type="parTrans" cxnId="{B0E8F5AE-B270-4176-91CC-2526DDB058BB}">
      <dgm:prSet/>
      <dgm:spPr/>
      <dgm:t>
        <a:bodyPr/>
        <a:lstStyle/>
        <a:p>
          <a:endParaRPr lang="en-US"/>
        </a:p>
      </dgm:t>
    </dgm:pt>
    <dgm:pt modelId="{7F696250-D8AD-4879-AF11-B5AF503952E3}" type="sibTrans" cxnId="{B0E8F5AE-B270-4176-91CC-2526DDB058BB}">
      <dgm:prSet/>
      <dgm:spPr/>
      <dgm:t>
        <a:bodyPr/>
        <a:lstStyle/>
        <a:p>
          <a:endParaRPr lang="en-US"/>
        </a:p>
      </dgm:t>
    </dgm:pt>
    <dgm:pt modelId="{1EB5C62D-B2AE-4A49-8DC0-47F60CA13E65}">
      <dgm:prSet/>
      <dgm:spPr/>
      <dgm:t>
        <a:bodyPr/>
        <a:lstStyle/>
        <a:p>
          <a:r>
            <a:rPr lang="en-US" b="0" i="0"/>
            <a:t>- heapq (Priority Queue for UCS and A*).</a:t>
          </a:r>
          <a:endParaRPr lang="en-US"/>
        </a:p>
      </dgm:t>
    </dgm:pt>
    <dgm:pt modelId="{AB17EF95-394D-4CD2-8786-38EF6E96B002}" type="parTrans" cxnId="{DB980B49-E46A-4CAC-A625-21965BCABDB5}">
      <dgm:prSet/>
      <dgm:spPr/>
      <dgm:t>
        <a:bodyPr/>
        <a:lstStyle/>
        <a:p>
          <a:endParaRPr lang="en-US"/>
        </a:p>
      </dgm:t>
    </dgm:pt>
    <dgm:pt modelId="{1E436F7A-3668-47D7-AD51-5A04AB76EE19}" type="sibTrans" cxnId="{DB980B49-E46A-4CAC-A625-21965BCABDB5}">
      <dgm:prSet/>
      <dgm:spPr/>
      <dgm:t>
        <a:bodyPr/>
        <a:lstStyle/>
        <a:p>
          <a:endParaRPr lang="en-US"/>
        </a:p>
      </dgm:t>
    </dgm:pt>
    <dgm:pt modelId="{BFAEE2BE-CE59-446B-BE70-B2868E1587C4}" type="pres">
      <dgm:prSet presAssocID="{218B205D-677E-46CE-AB49-4B9EBA7EF3D2}" presName="root" presStyleCnt="0">
        <dgm:presLayoutVars>
          <dgm:dir/>
          <dgm:resizeHandles val="exact"/>
        </dgm:presLayoutVars>
      </dgm:prSet>
      <dgm:spPr/>
    </dgm:pt>
    <dgm:pt modelId="{F27E1E8D-908C-4AF0-B2CA-A7971A959E3E}" type="pres">
      <dgm:prSet presAssocID="{83C725E4-9421-429A-BC37-28885DE6567F}" presName="compNode" presStyleCnt="0"/>
      <dgm:spPr/>
    </dgm:pt>
    <dgm:pt modelId="{C38F7B64-5752-4891-B9A0-11D0B667926A}" type="pres">
      <dgm:prSet presAssocID="{83C725E4-9421-429A-BC37-28885DE6567F}" presName="bgRect" presStyleLbl="bgShp" presStyleIdx="0" presStyleCnt="4"/>
      <dgm:spPr/>
    </dgm:pt>
    <dgm:pt modelId="{D36F8E2A-8650-4DD7-ADF2-A6F52580B844}" type="pres">
      <dgm:prSet presAssocID="{83C725E4-9421-429A-BC37-28885DE6567F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EE2FFE17-AEA2-45A6-93F7-121D5B4AD409}" type="pres">
      <dgm:prSet presAssocID="{83C725E4-9421-429A-BC37-28885DE6567F}" presName="spaceRect" presStyleCnt="0"/>
      <dgm:spPr/>
    </dgm:pt>
    <dgm:pt modelId="{BE4D11D2-A6EA-4459-8370-A7D02BD88F32}" type="pres">
      <dgm:prSet presAssocID="{83C725E4-9421-429A-BC37-28885DE6567F}" presName="parTx" presStyleLbl="revTx" presStyleIdx="0" presStyleCnt="6">
        <dgm:presLayoutVars>
          <dgm:chMax val="0"/>
          <dgm:chPref val="0"/>
        </dgm:presLayoutVars>
      </dgm:prSet>
      <dgm:spPr/>
    </dgm:pt>
    <dgm:pt modelId="{19B851D3-A180-4D0B-BD12-6E98B6A2F48F}" type="pres">
      <dgm:prSet presAssocID="{69F06DEE-FEE3-4550-B7DF-4388215780C9}" presName="sibTrans" presStyleCnt="0"/>
      <dgm:spPr/>
    </dgm:pt>
    <dgm:pt modelId="{52710FEF-FD1C-460F-9A34-148D9537A42E}" type="pres">
      <dgm:prSet presAssocID="{FBFCE947-59A1-4535-84DA-E13CBE3F1F4D}" presName="compNode" presStyleCnt="0"/>
      <dgm:spPr/>
    </dgm:pt>
    <dgm:pt modelId="{BE80F771-39C9-4BD9-99C1-09689EF1BAC3}" type="pres">
      <dgm:prSet presAssocID="{FBFCE947-59A1-4535-84DA-E13CBE3F1F4D}" presName="bgRect" presStyleLbl="bgShp" presStyleIdx="1" presStyleCnt="4"/>
      <dgm:spPr/>
    </dgm:pt>
    <dgm:pt modelId="{7E3491F4-7CF3-4440-B310-29C242B6BE7E}" type="pres">
      <dgm:prSet presAssocID="{FBFCE947-59A1-4535-84DA-E13CBE3F1F4D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418FA41D-49F4-4482-A188-8D21DBC0467A}" type="pres">
      <dgm:prSet presAssocID="{FBFCE947-59A1-4535-84DA-E13CBE3F1F4D}" presName="spaceRect" presStyleCnt="0"/>
      <dgm:spPr/>
    </dgm:pt>
    <dgm:pt modelId="{700B4B01-C212-4CEA-BACF-0FE2C47F2757}" type="pres">
      <dgm:prSet presAssocID="{FBFCE947-59A1-4535-84DA-E13CBE3F1F4D}" presName="parTx" presStyleLbl="revTx" presStyleIdx="1" presStyleCnt="6">
        <dgm:presLayoutVars>
          <dgm:chMax val="0"/>
          <dgm:chPref val="0"/>
        </dgm:presLayoutVars>
      </dgm:prSet>
      <dgm:spPr/>
    </dgm:pt>
    <dgm:pt modelId="{C07C6472-FAAD-4389-A1F2-F03420620EBB}" type="pres">
      <dgm:prSet presAssocID="{811F8A6C-1ABA-44DB-8A34-A85ED0BA31A0}" presName="sibTrans" presStyleCnt="0"/>
      <dgm:spPr/>
    </dgm:pt>
    <dgm:pt modelId="{920F7812-FCE3-46B6-AC71-F006564D9BDE}" type="pres">
      <dgm:prSet presAssocID="{FC707280-75E9-491E-9876-CA1960C67EDD}" presName="compNode" presStyleCnt="0"/>
      <dgm:spPr/>
    </dgm:pt>
    <dgm:pt modelId="{9F0B3DF6-32F9-4A62-AD53-70EF6ED604D4}" type="pres">
      <dgm:prSet presAssocID="{FC707280-75E9-491E-9876-CA1960C67EDD}" presName="bgRect" presStyleLbl="bgShp" presStyleIdx="2" presStyleCnt="4"/>
      <dgm:spPr/>
    </dgm:pt>
    <dgm:pt modelId="{8C1CC14C-BB2D-4154-AD42-6E4F55A21004}" type="pres">
      <dgm:prSet presAssocID="{FC707280-75E9-491E-9876-CA1960C67ED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DDDADB77-481F-4CF4-9B8F-B2D39868A98F}" type="pres">
      <dgm:prSet presAssocID="{FC707280-75E9-491E-9876-CA1960C67EDD}" presName="spaceRect" presStyleCnt="0"/>
      <dgm:spPr/>
    </dgm:pt>
    <dgm:pt modelId="{913EFF26-2E30-4864-BE41-D59A1F699084}" type="pres">
      <dgm:prSet presAssocID="{FC707280-75E9-491E-9876-CA1960C67EDD}" presName="parTx" presStyleLbl="revTx" presStyleIdx="2" presStyleCnt="6">
        <dgm:presLayoutVars>
          <dgm:chMax val="0"/>
          <dgm:chPref val="0"/>
        </dgm:presLayoutVars>
      </dgm:prSet>
      <dgm:spPr/>
    </dgm:pt>
    <dgm:pt modelId="{33F34E87-27D7-4428-907C-A59381DCB6CB}" type="pres">
      <dgm:prSet presAssocID="{FC707280-75E9-491E-9876-CA1960C67EDD}" presName="desTx" presStyleLbl="revTx" presStyleIdx="3" presStyleCnt="6">
        <dgm:presLayoutVars/>
      </dgm:prSet>
      <dgm:spPr/>
    </dgm:pt>
    <dgm:pt modelId="{992543AD-564F-4D9F-B74C-B6B76ADFA351}" type="pres">
      <dgm:prSet presAssocID="{73F40648-277B-41B6-A0F7-2DA46682ED69}" presName="sibTrans" presStyleCnt="0"/>
      <dgm:spPr/>
    </dgm:pt>
    <dgm:pt modelId="{23E883C7-4DD5-4460-AFCB-5602E515D973}" type="pres">
      <dgm:prSet presAssocID="{BD519110-7C6F-4FAE-9FBA-302847798CB2}" presName="compNode" presStyleCnt="0"/>
      <dgm:spPr/>
    </dgm:pt>
    <dgm:pt modelId="{A94A2B58-F2EB-44E7-BD3E-77AC8F032D1D}" type="pres">
      <dgm:prSet presAssocID="{BD519110-7C6F-4FAE-9FBA-302847798CB2}" presName="bgRect" presStyleLbl="bgShp" presStyleIdx="3" presStyleCnt="4"/>
      <dgm:spPr/>
    </dgm:pt>
    <dgm:pt modelId="{10C538F3-2A5E-4C59-AB07-7F7580D24999}" type="pres">
      <dgm:prSet presAssocID="{BD519110-7C6F-4FAE-9FBA-302847798CB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54075E95-E1B5-4019-B931-C9E4CA57ECF2}" type="pres">
      <dgm:prSet presAssocID="{BD519110-7C6F-4FAE-9FBA-302847798CB2}" presName="spaceRect" presStyleCnt="0"/>
      <dgm:spPr/>
    </dgm:pt>
    <dgm:pt modelId="{9A819ABA-D92C-4BF0-9988-9B4F3476CC71}" type="pres">
      <dgm:prSet presAssocID="{BD519110-7C6F-4FAE-9FBA-302847798CB2}" presName="parTx" presStyleLbl="revTx" presStyleIdx="4" presStyleCnt="6">
        <dgm:presLayoutVars>
          <dgm:chMax val="0"/>
          <dgm:chPref val="0"/>
        </dgm:presLayoutVars>
      </dgm:prSet>
      <dgm:spPr/>
    </dgm:pt>
    <dgm:pt modelId="{1E266F58-CE5F-44FD-A474-E1ED98AFDF97}" type="pres">
      <dgm:prSet presAssocID="{BD519110-7C6F-4FAE-9FBA-302847798CB2}" presName="desTx" presStyleLbl="revTx" presStyleIdx="5" presStyleCnt="6">
        <dgm:presLayoutVars/>
      </dgm:prSet>
      <dgm:spPr/>
    </dgm:pt>
  </dgm:ptLst>
  <dgm:cxnLst>
    <dgm:cxn modelId="{B0B7661E-72DA-43EE-BBF0-F39902C4B8B5}" type="presOf" srcId="{BD519110-7C6F-4FAE-9FBA-302847798CB2}" destId="{9A819ABA-D92C-4BF0-9988-9B4F3476CC71}" srcOrd="0" destOrd="0" presId="urn:microsoft.com/office/officeart/2018/2/layout/IconVerticalSolidList"/>
    <dgm:cxn modelId="{FB856E23-561A-4EF9-8295-D5A62C7F0D66}" type="presOf" srcId="{83C725E4-9421-429A-BC37-28885DE6567F}" destId="{BE4D11D2-A6EA-4459-8370-A7D02BD88F32}" srcOrd="0" destOrd="0" presId="urn:microsoft.com/office/officeart/2018/2/layout/IconVerticalSolidList"/>
    <dgm:cxn modelId="{58F0662F-FBAC-4006-9FA8-E44AFB464CCC}" type="presOf" srcId="{3A631260-F8C2-495E-9DE0-4263DC0072BC}" destId="{33F34E87-27D7-4428-907C-A59381DCB6CB}" srcOrd="0" destOrd="1" presId="urn:microsoft.com/office/officeart/2018/2/layout/IconVerticalSolidList"/>
    <dgm:cxn modelId="{2DAA6E60-D7F6-40EA-80F8-21B69FBA6B48}" type="presOf" srcId="{1EB5C62D-B2AE-4A49-8DC0-47F60CA13E65}" destId="{1E266F58-CE5F-44FD-A474-E1ED98AFDF97}" srcOrd="0" destOrd="2" presId="urn:microsoft.com/office/officeart/2018/2/layout/IconVerticalSolidList"/>
    <dgm:cxn modelId="{C384B961-F3E6-4F3D-8362-50C3EC844E44}" srcId="{218B205D-677E-46CE-AB49-4B9EBA7EF3D2}" destId="{FBFCE947-59A1-4535-84DA-E13CBE3F1F4D}" srcOrd="1" destOrd="0" parTransId="{18F8813E-D277-42C6-9DF9-B6594EB7BCC2}" sibTransId="{811F8A6C-1ABA-44DB-8A34-A85ED0BA31A0}"/>
    <dgm:cxn modelId="{7BFF9F42-AF2B-4B9F-AF13-206E522C04FA}" type="presOf" srcId="{FC707280-75E9-491E-9876-CA1960C67EDD}" destId="{913EFF26-2E30-4864-BE41-D59A1F699084}" srcOrd="0" destOrd="0" presId="urn:microsoft.com/office/officeart/2018/2/layout/IconVerticalSolidList"/>
    <dgm:cxn modelId="{4F77FB42-B7CE-412E-96D8-3059741CEE8E}" type="presOf" srcId="{3C1AC65C-AFE2-464E-9E1C-B0B9E8F34E8C}" destId="{33F34E87-27D7-4428-907C-A59381DCB6CB}" srcOrd="0" destOrd="0" presId="urn:microsoft.com/office/officeart/2018/2/layout/IconVerticalSolidList"/>
    <dgm:cxn modelId="{42B59B64-CCB1-431F-8B13-60F7CA94F852}" srcId="{218B205D-677E-46CE-AB49-4B9EBA7EF3D2}" destId="{FC707280-75E9-491E-9876-CA1960C67EDD}" srcOrd="2" destOrd="0" parTransId="{9CA53F11-B799-492A-A91E-31217E69156E}" sibTransId="{73F40648-277B-41B6-A0F7-2DA46682ED69}"/>
    <dgm:cxn modelId="{8423CD66-D7BD-4765-B35E-A35724DC2459}" srcId="{FC707280-75E9-491E-9876-CA1960C67EDD}" destId="{3C1AC65C-AFE2-464E-9E1C-B0B9E8F34E8C}" srcOrd="0" destOrd="0" parTransId="{96E2AF7C-58C0-46F8-8443-51CD3EF43616}" sibTransId="{0D7C19A6-DC7E-4F64-839C-DC734FC1927C}"/>
    <dgm:cxn modelId="{29E6BC68-416A-4A3E-BA20-DF93D75DB78E}" srcId="{BD519110-7C6F-4FAE-9FBA-302847798CB2}" destId="{EA3D233D-D322-4FCF-BB2C-2DDCFA3CC34C}" srcOrd="0" destOrd="0" parTransId="{F34AE7A1-E90A-4DB9-BEDF-60CDFEB1766C}" sibTransId="{9CA9FAF2-9A3A-4851-B838-DEB2D77074A7}"/>
    <dgm:cxn modelId="{DB980B49-E46A-4CAC-A625-21965BCABDB5}" srcId="{BD519110-7C6F-4FAE-9FBA-302847798CB2}" destId="{1EB5C62D-B2AE-4A49-8DC0-47F60CA13E65}" srcOrd="2" destOrd="0" parTransId="{AB17EF95-394D-4CD2-8786-38EF6E96B002}" sibTransId="{1E436F7A-3668-47D7-AD51-5A04AB76EE19}"/>
    <dgm:cxn modelId="{88EBF569-0140-448E-A3D8-3C1F4B2334FA}" srcId="{218B205D-677E-46CE-AB49-4B9EBA7EF3D2}" destId="{83C725E4-9421-429A-BC37-28885DE6567F}" srcOrd="0" destOrd="0" parTransId="{B9F85396-661D-44F6-B704-DC4F8249EF43}" sibTransId="{69F06DEE-FEE3-4550-B7DF-4388215780C9}"/>
    <dgm:cxn modelId="{1FFF84A2-F8AA-4574-9A90-80962FCD2F85}" type="presOf" srcId="{218B205D-677E-46CE-AB49-4B9EBA7EF3D2}" destId="{BFAEE2BE-CE59-446B-BE70-B2868E1587C4}" srcOrd="0" destOrd="0" presId="urn:microsoft.com/office/officeart/2018/2/layout/IconVerticalSolidList"/>
    <dgm:cxn modelId="{B0E8F5AE-B270-4176-91CC-2526DDB058BB}" srcId="{BD519110-7C6F-4FAE-9FBA-302847798CB2}" destId="{6753FEDA-2D8E-4B20-88CD-105CB65B112C}" srcOrd="1" destOrd="0" parTransId="{102C6860-5576-48D9-BB5B-91CB425CC953}" sibTransId="{7F696250-D8AD-4879-AF11-B5AF503952E3}"/>
    <dgm:cxn modelId="{155AD7B6-0FDF-4957-9192-042C5A898414}" srcId="{218B205D-677E-46CE-AB49-4B9EBA7EF3D2}" destId="{BD519110-7C6F-4FAE-9FBA-302847798CB2}" srcOrd="3" destOrd="0" parTransId="{54BAFCCD-1D47-41AD-8901-7C8416FEF9FA}" sibTransId="{9FE2766C-772A-4F0E-AE72-7A8C1C31551A}"/>
    <dgm:cxn modelId="{208BFAB9-D8A5-4D16-8BC1-830E2BDD656D}" srcId="{FC707280-75E9-491E-9876-CA1960C67EDD}" destId="{3A631260-F8C2-495E-9DE0-4263DC0072BC}" srcOrd="1" destOrd="0" parTransId="{4B58F1A0-1F5B-469C-8BD6-EBE40F3D887E}" sibTransId="{90CA63D4-88F2-4286-8858-6E8A1B0D42DA}"/>
    <dgm:cxn modelId="{AD88E6BB-8432-48E0-9021-EBE9C350A1A2}" type="presOf" srcId="{FBFCE947-59A1-4535-84DA-E13CBE3F1F4D}" destId="{700B4B01-C212-4CEA-BACF-0FE2C47F2757}" srcOrd="0" destOrd="0" presId="urn:microsoft.com/office/officeart/2018/2/layout/IconVerticalSolidList"/>
    <dgm:cxn modelId="{6E60E1D5-6C4A-4A0A-B835-52457ABD07B0}" type="presOf" srcId="{EA3D233D-D322-4FCF-BB2C-2DDCFA3CC34C}" destId="{1E266F58-CE5F-44FD-A474-E1ED98AFDF97}" srcOrd="0" destOrd="0" presId="urn:microsoft.com/office/officeart/2018/2/layout/IconVerticalSolidList"/>
    <dgm:cxn modelId="{BFB739E3-AADF-4C72-A048-F132024E23B7}" type="presOf" srcId="{6753FEDA-2D8E-4B20-88CD-105CB65B112C}" destId="{1E266F58-CE5F-44FD-A474-E1ED98AFDF97}" srcOrd="0" destOrd="1" presId="urn:microsoft.com/office/officeart/2018/2/layout/IconVerticalSolidList"/>
    <dgm:cxn modelId="{8B27AF75-7DA2-44CB-B5C5-BA6A21D8AC4B}" type="presParOf" srcId="{BFAEE2BE-CE59-446B-BE70-B2868E1587C4}" destId="{F27E1E8D-908C-4AF0-B2CA-A7971A959E3E}" srcOrd="0" destOrd="0" presId="urn:microsoft.com/office/officeart/2018/2/layout/IconVerticalSolidList"/>
    <dgm:cxn modelId="{F1CA2999-FB38-4E16-AC37-F8296EEDBEA7}" type="presParOf" srcId="{F27E1E8D-908C-4AF0-B2CA-A7971A959E3E}" destId="{C38F7B64-5752-4891-B9A0-11D0B667926A}" srcOrd="0" destOrd="0" presId="urn:microsoft.com/office/officeart/2018/2/layout/IconVerticalSolidList"/>
    <dgm:cxn modelId="{44EB6F17-264C-45C0-9150-BD79C25E8233}" type="presParOf" srcId="{F27E1E8D-908C-4AF0-B2CA-A7971A959E3E}" destId="{D36F8E2A-8650-4DD7-ADF2-A6F52580B844}" srcOrd="1" destOrd="0" presId="urn:microsoft.com/office/officeart/2018/2/layout/IconVerticalSolidList"/>
    <dgm:cxn modelId="{52788A54-F4A4-4A9F-ABE4-96F5B77AE993}" type="presParOf" srcId="{F27E1E8D-908C-4AF0-B2CA-A7971A959E3E}" destId="{EE2FFE17-AEA2-45A6-93F7-121D5B4AD409}" srcOrd="2" destOrd="0" presId="urn:microsoft.com/office/officeart/2018/2/layout/IconVerticalSolidList"/>
    <dgm:cxn modelId="{E3758AA7-8C82-48BB-8D53-6F5A84080736}" type="presParOf" srcId="{F27E1E8D-908C-4AF0-B2CA-A7971A959E3E}" destId="{BE4D11D2-A6EA-4459-8370-A7D02BD88F32}" srcOrd="3" destOrd="0" presId="urn:microsoft.com/office/officeart/2018/2/layout/IconVerticalSolidList"/>
    <dgm:cxn modelId="{3732247D-1816-4DA5-98EC-25DBB1CA1CC7}" type="presParOf" srcId="{BFAEE2BE-CE59-446B-BE70-B2868E1587C4}" destId="{19B851D3-A180-4D0B-BD12-6E98B6A2F48F}" srcOrd="1" destOrd="0" presId="urn:microsoft.com/office/officeart/2018/2/layout/IconVerticalSolidList"/>
    <dgm:cxn modelId="{4BBE8952-5C2C-4CF1-B8E8-1C78C720361D}" type="presParOf" srcId="{BFAEE2BE-CE59-446B-BE70-B2868E1587C4}" destId="{52710FEF-FD1C-460F-9A34-148D9537A42E}" srcOrd="2" destOrd="0" presId="urn:microsoft.com/office/officeart/2018/2/layout/IconVerticalSolidList"/>
    <dgm:cxn modelId="{67359269-7E47-4332-9D00-41DF3E36A7F3}" type="presParOf" srcId="{52710FEF-FD1C-460F-9A34-148D9537A42E}" destId="{BE80F771-39C9-4BD9-99C1-09689EF1BAC3}" srcOrd="0" destOrd="0" presId="urn:microsoft.com/office/officeart/2018/2/layout/IconVerticalSolidList"/>
    <dgm:cxn modelId="{7A240AB9-F2F4-47C7-8032-12BA4FDFC76F}" type="presParOf" srcId="{52710FEF-FD1C-460F-9A34-148D9537A42E}" destId="{7E3491F4-7CF3-4440-B310-29C242B6BE7E}" srcOrd="1" destOrd="0" presId="urn:microsoft.com/office/officeart/2018/2/layout/IconVerticalSolidList"/>
    <dgm:cxn modelId="{20439959-1FF7-4C79-8669-5DDA668E1360}" type="presParOf" srcId="{52710FEF-FD1C-460F-9A34-148D9537A42E}" destId="{418FA41D-49F4-4482-A188-8D21DBC0467A}" srcOrd="2" destOrd="0" presId="urn:microsoft.com/office/officeart/2018/2/layout/IconVerticalSolidList"/>
    <dgm:cxn modelId="{B48FE82E-5516-4CF1-94BB-2A478416CC41}" type="presParOf" srcId="{52710FEF-FD1C-460F-9A34-148D9537A42E}" destId="{700B4B01-C212-4CEA-BACF-0FE2C47F2757}" srcOrd="3" destOrd="0" presId="urn:microsoft.com/office/officeart/2018/2/layout/IconVerticalSolidList"/>
    <dgm:cxn modelId="{BB07E27C-E5CB-40C6-AEFF-BE6AD2B8708D}" type="presParOf" srcId="{BFAEE2BE-CE59-446B-BE70-B2868E1587C4}" destId="{C07C6472-FAAD-4389-A1F2-F03420620EBB}" srcOrd="3" destOrd="0" presId="urn:microsoft.com/office/officeart/2018/2/layout/IconVerticalSolidList"/>
    <dgm:cxn modelId="{2E8BC29D-C19F-46EA-96DF-C8E05A156CB5}" type="presParOf" srcId="{BFAEE2BE-CE59-446B-BE70-B2868E1587C4}" destId="{920F7812-FCE3-46B6-AC71-F006564D9BDE}" srcOrd="4" destOrd="0" presId="urn:microsoft.com/office/officeart/2018/2/layout/IconVerticalSolidList"/>
    <dgm:cxn modelId="{24C3406C-EF1C-442F-8D05-A11A3A479EC0}" type="presParOf" srcId="{920F7812-FCE3-46B6-AC71-F006564D9BDE}" destId="{9F0B3DF6-32F9-4A62-AD53-70EF6ED604D4}" srcOrd="0" destOrd="0" presId="urn:microsoft.com/office/officeart/2018/2/layout/IconVerticalSolidList"/>
    <dgm:cxn modelId="{F69991E7-711C-4A15-9682-BD5806849FC0}" type="presParOf" srcId="{920F7812-FCE3-46B6-AC71-F006564D9BDE}" destId="{8C1CC14C-BB2D-4154-AD42-6E4F55A21004}" srcOrd="1" destOrd="0" presId="urn:microsoft.com/office/officeart/2018/2/layout/IconVerticalSolidList"/>
    <dgm:cxn modelId="{7E1301E9-3510-4BBE-8060-C86A8B0852E9}" type="presParOf" srcId="{920F7812-FCE3-46B6-AC71-F006564D9BDE}" destId="{DDDADB77-481F-4CF4-9B8F-B2D39868A98F}" srcOrd="2" destOrd="0" presId="urn:microsoft.com/office/officeart/2018/2/layout/IconVerticalSolidList"/>
    <dgm:cxn modelId="{6B591787-C64D-4E2B-81F5-DCA2D1A3FE39}" type="presParOf" srcId="{920F7812-FCE3-46B6-AC71-F006564D9BDE}" destId="{913EFF26-2E30-4864-BE41-D59A1F699084}" srcOrd="3" destOrd="0" presId="urn:microsoft.com/office/officeart/2018/2/layout/IconVerticalSolidList"/>
    <dgm:cxn modelId="{647D61BD-DE6D-48AE-9A81-D7A74496B71E}" type="presParOf" srcId="{920F7812-FCE3-46B6-AC71-F006564D9BDE}" destId="{33F34E87-27D7-4428-907C-A59381DCB6CB}" srcOrd="4" destOrd="0" presId="urn:microsoft.com/office/officeart/2018/2/layout/IconVerticalSolidList"/>
    <dgm:cxn modelId="{A284E0B6-12E9-4088-B7CB-7A1C0DC728E3}" type="presParOf" srcId="{BFAEE2BE-CE59-446B-BE70-B2868E1587C4}" destId="{992543AD-564F-4D9F-B74C-B6B76ADFA351}" srcOrd="5" destOrd="0" presId="urn:microsoft.com/office/officeart/2018/2/layout/IconVerticalSolidList"/>
    <dgm:cxn modelId="{434F8B0E-5353-419F-8177-D1CC2E06E0F2}" type="presParOf" srcId="{BFAEE2BE-CE59-446B-BE70-B2868E1587C4}" destId="{23E883C7-4DD5-4460-AFCB-5602E515D973}" srcOrd="6" destOrd="0" presId="urn:microsoft.com/office/officeart/2018/2/layout/IconVerticalSolidList"/>
    <dgm:cxn modelId="{0D2EB3BF-F789-4D92-8BA2-5F6D04AAF2E2}" type="presParOf" srcId="{23E883C7-4DD5-4460-AFCB-5602E515D973}" destId="{A94A2B58-F2EB-44E7-BD3E-77AC8F032D1D}" srcOrd="0" destOrd="0" presId="urn:microsoft.com/office/officeart/2018/2/layout/IconVerticalSolidList"/>
    <dgm:cxn modelId="{0D01F9C0-E506-41BE-A6CC-EE7F78D08FB4}" type="presParOf" srcId="{23E883C7-4DD5-4460-AFCB-5602E515D973}" destId="{10C538F3-2A5E-4C59-AB07-7F7580D24999}" srcOrd="1" destOrd="0" presId="urn:microsoft.com/office/officeart/2018/2/layout/IconVerticalSolidList"/>
    <dgm:cxn modelId="{B1261283-AA48-4DFE-A9A6-7FE2F3DC63CD}" type="presParOf" srcId="{23E883C7-4DD5-4460-AFCB-5602E515D973}" destId="{54075E95-E1B5-4019-B931-C9E4CA57ECF2}" srcOrd="2" destOrd="0" presId="urn:microsoft.com/office/officeart/2018/2/layout/IconVerticalSolidList"/>
    <dgm:cxn modelId="{1BD0336B-14AC-4ED9-99B3-13A090991BA7}" type="presParOf" srcId="{23E883C7-4DD5-4460-AFCB-5602E515D973}" destId="{9A819ABA-D92C-4BF0-9988-9B4F3476CC71}" srcOrd="3" destOrd="0" presId="urn:microsoft.com/office/officeart/2018/2/layout/IconVerticalSolidList"/>
    <dgm:cxn modelId="{4E7C9EB6-AFE5-431A-86D3-20E10A91F641}" type="presParOf" srcId="{23E883C7-4DD5-4460-AFCB-5602E515D973}" destId="{1E266F58-CE5F-44FD-A474-E1ED98AFDF97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8F7B64-5752-4891-B9A0-11D0B667926A}">
      <dsp:nvSpPr>
        <dsp:cNvPr id="0" name=""/>
        <dsp:cNvSpPr/>
      </dsp:nvSpPr>
      <dsp:spPr>
        <a:xfrm>
          <a:off x="0" y="4128"/>
          <a:ext cx="6496050" cy="96078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6F8E2A-8650-4DD7-ADF2-A6F52580B844}">
      <dsp:nvSpPr>
        <dsp:cNvPr id="0" name=""/>
        <dsp:cNvSpPr/>
      </dsp:nvSpPr>
      <dsp:spPr>
        <a:xfrm>
          <a:off x="290638" y="220305"/>
          <a:ext cx="528433" cy="52843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4D11D2-A6EA-4459-8370-A7D02BD88F32}">
      <dsp:nvSpPr>
        <dsp:cNvPr id="0" name=""/>
        <dsp:cNvSpPr/>
      </dsp:nvSpPr>
      <dsp:spPr>
        <a:xfrm>
          <a:off x="1109710" y="4128"/>
          <a:ext cx="5385254" cy="9607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83" tIns="101683" rIns="101683" bIns="101683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/>
            <a:t>Language: Python.</a:t>
          </a:r>
          <a:endParaRPr lang="en-US" sz="1800" kern="1200"/>
        </a:p>
      </dsp:txBody>
      <dsp:txXfrm>
        <a:off x="1109710" y="4128"/>
        <a:ext cx="5385254" cy="960788"/>
      </dsp:txXfrm>
    </dsp:sp>
    <dsp:sp modelId="{BE80F771-39C9-4BD9-99C1-09689EF1BAC3}">
      <dsp:nvSpPr>
        <dsp:cNvPr id="0" name=""/>
        <dsp:cNvSpPr/>
      </dsp:nvSpPr>
      <dsp:spPr>
        <a:xfrm>
          <a:off x="0" y="1205113"/>
          <a:ext cx="6496050" cy="96078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3491F4-7CF3-4440-B310-29C242B6BE7E}">
      <dsp:nvSpPr>
        <dsp:cNvPr id="0" name=""/>
        <dsp:cNvSpPr/>
      </dsp:nvSpPr>
      <dsp:spPr>
        <a:xfrm>
          <a:off x="290638" y="1421290"/>
          <a:ext cx="528433" cy="52843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0B4B01-C212-4CEA-BACF-0FE2C47F2757}">
      <dsp:nvSpPr>
        <dsp:cNvPr id="0" name=""/>
        <dsp:cNvSpPr/>
      </dsp:nvSpPr>
      <dsp:spPr>
        <a:xfrm>
          <a:off x="1109710" y="1205113"/>
          <a:ext cx="5385254" cy="9607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83" tIns="101683" rIns="101683" bIns="101683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/>
            <a:t>GUI Library: tkinter (Standard Library).</a:t>
          </a:r>
          <a:endParaRPr lang="en-US" sz="1800" kern="1200"/>
        </a:p>
      </dsp:txBody>
      <dsp:txXfrm>
        <a:off x="1109710" y="1205113"/>
        <a:ext cx="5385254" cy="960788"/>
      </dsp:txXfrm>
    </dsp:sp>
    <dsp:sp modelId="{9F0B3DF6-32F9-4A62-AD53-70EF6ED604D4}">
      <dsp:nvSpPr>
        <dsp:cNvPr id="0" name=""/>
        <dsp:cNvSpPr/>
      </dsp:nvSpPr>
      <dsp:spPr>
        <a:xfrm>
          <a:off x="0" y="2406098"/>
          <a:ext cx="6496050" cy="96078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1CC14C-BB2D-4154-AD42-6E4F55A21004}">
      <dsp:nvSpPr>
        <dsp:cNvPr id="0" name=""/>
        <dsp:cNvSpPr/>
      </dsp:nvSpPr>
      <dsp:spPr>
        <a:xfrm>
          <a:off x="290638" y="2622275"/>
          <a:ext cx="528433" cy="52843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3EFF26-2E30-4864-BE41-D59A1F699084}">
      <dsp:nvSpPr>
        <dsp:cNvPr id="0" name=""/>
        <dsp:cNvSpPr/>
      </dsp:nvSpPr>
      <dsp:spPr>
        <a:xfrm>
          <a:off x="1109710" y="2406098"/>
          <a:ext cx="2923222" cy="9607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83" tIns="101683" rIns="101683" bIns="101683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/>
            <a:t>Architecture: Object-Oriented Programming (OOP).</a:t>
          </a:r>
          <a:endParaRPr lang="en-US" sz="1800" kern="1200"/>
        </a:p>
      </dsp:txBody>
      <dsp:txXfrm>
        <a:off x="1109710" y="2406098"/>
        <a:ext cx="2923222" cy="960788"/>
      </dsp:txXfrm>
    </dsp:sp>
    <dsp:sp modelId="{33F34E87-27D7-4428-907C-A59381DCB6CB}">
      <dsp:nvSpPr>
        <dsp:cNvPr id="0" name=""/>
        <dsp:cNvSpPr/>
      </dsp:nvSpPr>
      <dsp:spPr>
        <a:xfrm>
          <a:off x="4032932" y="2406098"/>
          <a:ext cx="2462032" cy="9607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83" tIns="101683" rIns="101683" bIns="101683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/>
            <a:t>- Logic Class: SearchAlgorithms (Contains the 5 algorithms).</a:t>
          </a: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/>
            <a:t>- Presentation Class: MazeApp (Handles drawing and user interaction).</a:t>
          </a:r>
          <a:endParaRPr lang="en-US" sz="1100" kern="1200"/>
        </a:p>
      </dsp:txBody>
      <dsp:txXfrm>
        <a:off x="4032932" y="2406098"/>
        <a:ext cx="2462032" cy="960788"/>
      </dsp:txXfrm>
    </dsp:sp>
    <dsp:sp modelId="{A94A2B58-F2EB-44E7-BD3E-77AC8F032D1D}">
      <dsp:nvSpPr>
        <dsp:cNvPr id="0" name=""/>
        <dsp:cNvSpPr/>
      </dsp:nvSpPr>
      <dsp:spPr>
        <a:xfrm>
          <a:off x="0" y="3607083"/>
          <a:ext cx="6496050" cy="960788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C538F3-2A5E-4C59-AB07-7F7580D24999}">
      <dsp:nvSpPr>
        <dsp:cNvPr id="0" name=""/>
        <dsp:cNvSpPr/>
      </dsp:nvSpPr>
      <dsp:spPr>
        <a:xfrm>
          <a:off x="290638" y="3823261"/>
          <a:ext cx="528433" cy="52843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819ABA-D92C-4BF0-9988-9B4F3476CC71}">
      <dsp:nvSpPr>
        <dsp:cNvPr id="0" name=""/>
        <dsp:cNvSpPr/>
      </dsp:nvSpPr>
      <dsp:spPr>
        <a:xfrm>
          <a:off x="1109710" y="3607083"/>
          <a:ext cx="2923222" cy="9607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83" tIns="101683" rIns="101683" bIns="101683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/>
            <a:t>Data Structures Used:</a:t>
          </a:r>
          <a:endParaRPr lang="en-US" sz="1800" kern="1200"/>
        </a:p>
      </dsp:txBody>
      <dsp:txXfrm>
        <a:off x="1109710" y="3607083"/>
        <a:ext cx="2923222" cy="960788"/>
      </dsp:txXfrm>
    </dsp:sp>
    <dsp:sp modelId="{1E266F58-CE5F-44FD-A474-E1ED98AFDF97}">
      <dsp:nvSpPr>
        <dsp:cNvPr id="0" name=""/>
        <dsp:cNvSpPr/>
      </dsp:nvSpPr>
      <dsp:spPr>
        <a:xfrm>
          <a:off x="4032932" y="3607083"/>
          <a:ext cx="2462032" cy="9607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83" tIns="101683" rIns="101683" bIns="101683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/>
            <a:t>- deque (Queue for BFS).</a:t>
          </a: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/>
            <a:t>- list (Stack for DFS).</a:t>
          </a: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/>
            <a:t>- heapq (Priority Queue for UCS and A*).</a:t>
          </a:r>
          <a:endParaRPr lang="en-US" sz="1100" kern="1200"/>
        </a:p>
      </dsp:txBody>
      <dsp:txXfrm>
        <a:off x="4032932" y="3607083"/>
        <a:ext cx="2462032" cy="96078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080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028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890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128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0533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0133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494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3917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0396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730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5527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824839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5634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5172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854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8328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32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94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7000"/>
                <a:hueMod val="88000"/>
                <a:satMod val="130000"/>
                <a:lumMod val="124000"/>
              </a:schemeClr>
            </a:gs>
            <a:gs pos="100000">
              <a:schemeClr val="bg2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E27238C-8EAF-4098-86E6-7723B7DAE6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 36">
            <a:extLst>
              <a:ext uri="{FF2B5EF4-FFF2-40B4-BE49-F238E27FC236}">
                <a16:creationId xmlns:a16="http://schemas.microsoft.com/office/drawing/2014/main" id="{992F97B1-1891-4FCC-9E5F-BA97EDB48F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351010" y="0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lumMod val="60000"/>
              <a:lumOff val="40000"/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7" name="Freeform: Shape 6">
            <a:extLst>
              <a:ext uri="{FF2B5EF4-FFF2-40B4-BE49-F238E27FC236}">
                <a16:creationId xmlns:a16="http://schemas.microsoft.com/office/drawing/2014/main" id="{78C6C821-FEE1-4EB6-9590-C021440C77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175" y="0"/>
            <a:ext cx="9700459" cy="6858001"/>
          </a:xfrm>
          <a:custGeom>
            <a:avLst/>
            <a:gdLst>
              <a:gd name="connsiteX0" fmla="*/ 0 w 9700459"/>
              <a:gd name="connsiteY0" fmla="*/ 0 h 6858001"/>
              <a:gd name="connsiteX1" fmla="*/ 1323975 w 9700459"/>
              <a:gd name="connsiteY1" fmla="*/ 0 h 6858001"/>
              <a:gd name="connsiteX2" fmla="*/ 1517015 w 9700459"/>
              <a:gd name="connsiteY2" fmla="*/ 0 h 6858001"/>
              <a:gd name="connsiteX3" fmla="*/ 3241265 w 9700459"/>
              <a:gd name="connsiteY3" fmla="*/ 0 h 6858001"/>
              <a:gd name="connsiteX4" fmla="*/ 3241265 w 9700459"/>
              <a:gd name="connsiteY4" fmla="*/ 1 h 6858001"/>
              <a:gd name="connsiteX5" fmla="*/ 8355744 w 9700459"/>
              <a:gd name="connsiteY5" fmla="*/ 1 h 6858001"/>
              <a:gd name="connsiteX6" fmla="*/ 8355744 w 9700459"/>
              <a:gd name="connsiteY6" fmla="*/ 0 h 6858001"/>
              <a:gd name="connsiteX7" fmla="*/ 9699282 w 9700459"/>
              <a:gd name="connsiteY7" fmla="*/ 0 h 6858001"/>
              <a:gd name="connsiteX8" fmla="*/ 9674237 w 9700459"/>
              <a:gd name="connsiteY8" fmla="*/ 155677 h 6858001"/>
              <a:gd name="connsiteX9" fmla="*/ 9650368 w 9700459"/>
              <a:gd name="connsiteY9" fmla="*/ 310668 h 6858001"/>
              <a:gd name="connsiteX10" fmla="*/ 9627004 w 9700459"/>
              <a:gd name="connsiteY10" fmla="*/ 466344 h 6858001"/>
              <a:gd name="connsiteX11" fmla="*/ 9607001 w 9700459"/>
              <a:gd name="connsiteY11" fmla="*/ 622707 h 6858001"/>
              <a:gd name="connsiteX12" fmla="*/ 9586830 w 9700459"/>
              <a:gd name="connsiteY12" fmla="*/ 778383 h 6858001"/>
              <a:gd name="connsiteX13" fmla="*/ 9568004 w 9700459"/>
              <a:gd name="connsiteY13" fmla="*/ 934746 h 6858001"/>
              <a:gd name="connsiteX14" fmla="*/ 9551868 w 9700459"/>
              <a:gd name="connsiteY14" fmla="*/ 1089051 h 6858001"/>
              <a:gd name="connsiteX15" fmla="*/ 9536572 w 9700459"/>
              <a:gd name="connsiteY15" fmla="*/ 1245413 h 6858001"/>
              <a:gd name="connsiteX16" fmla="*/ 9522620 w 9700459"/>
              <a:gd name="connsiteY16" fmla="*/ 1401090 h 6858001"/>
              <a:gd name="connsiteX17" fmla="*/ 9510518 w 9700459"/>
              <a:gd name="connsiteY17" fmla="*/ 1554023 h 6858001"/>
              <a:gd name="connsiteX18" fmla="*/ 9498415 w 9700459"/>
              <a:gd name="connsiteY18" fmla="*/ 1709014 h 6858001"/>
              <a:gd name="connsiteX19" fmla="*/ 9488330 w 9700459"/>
              <a:gd name="connsiteY19" fmla="*/ 1861947 h 6858001"/>
              <a:gd name="connsiteX20" fmla="*/ 9480430 w 9700459"/>
              <a:gd name="connsiteY20" fmla="*/ 2014881 h 6858001"/>
              <a:gd name="connsiteX21" fmla="*/ 9472193 w 9700459"/>
              <a:gd name="connsiteY21" fmla="*/ 2167128 h 6858001"/>
              <a:gd name="connsiteX22" fmla="*/ 9465302 w 9700459"/>
              <a:gd name="connsiteY22" fmla="*/ 2318004 h 6858001"/>
              <a:gd name="connsiteX23" fmla="*/ 9460427 w 9700459"/>
              <a:gd name="connsiteY23" fmla="*/ 2467509 h 6858001"/>
              <a:gd name="connsiteX24" fmla="*/ 9456225 w 9700459"/>
              <a:gd name="connsiteY24" fmla="*/ 2617013 h 6858001"/>
              <a:gd name="connsiteX25" fmla="*/ 9452191 w 9700459"/>
              <a:gd name="connsiteY25" fmla="*/ 2765146 h 6858001"/>
              <a:gd name="connsiteX26" fmla="*/ 9450342 w 9700459"/>
              <a:gd name="connsiteY26" fmla="*/ 2911221 h 6858001"/>
              <a:gd name="connsiteX27" fmla="*/ 9448325 w 9700459"/>
              <a:gd name="connsiteY27" fmla="*/ 3057297 h 6858001"/>
              <a:gd name="connsiteX28" fmla="*/ 9447316 w 9700459"/>
              <a:gd name="connsiteY28" fmla="*/ 3201315 h 6858001"/>
              <a:gd name="connsiteX29" fmla="*/ 9448325 w 9700459"/>
              <a:gd name="connsiteY29" fmla="*/ 3343961 h 6858001"/>
              <a:gd name="connsiteX30" fmla="*/ 9448325 w 9700459"/>
              <a:gd name="connsiteY30" fmla="*/ 3485236 h 6858001"/>
              <a:gd name="connsiteX31" fmla="*/ 9450342 w 9700459"/>
              <a:gd name="connsiteY31" fmla="*/ 3625139 h 6858001"/>
              <a:gd name="connsiteX32" fmla="*/ 9453367 w 9700459"/>
              <a:gd name="connsiteY32" fmla="*/ 3762299 h 6858001"/>
              <a:gd name="connsiteX33" fmla="*/ 9456225 w 9700459"/>
              <a:gd name="connsiteY33" fmla="*/ 3898087 h 6858001"/>
              <a:gd name="connsiteX34" fmla="*/ 9459419 w 9700459"/>
              <a:gd name="connsiteY34" fmla="*/ 4031133 h 6858001"/>
              <a:gd name="connsiteX35" fmla="*/ 9464293 w 9700459"/>
              <a:gd name="connsiteY35" fmla="*/ 4163492 h 6858001"/>
              <a:gd name="connsiteX36" fmla="*/ 9469504 w 9700459"/>
              <a:gd name="connsiteY36" fmla="*/ 4293793 h 6858001"/>
              <a:gd name="connsiteX37" fmla="*/ 9474210 w 9700459"/>
              <a:gd name="connsiteY37" fmla="*/ 4421352 h 6858001"/>
              <a:gd name="connsiteX38" fmla="*/ 9487490 w 9700459"/>
              <a:gd name="connsiteY38" fmla="*/ 4670298 h 6858001"/>
              <a:gd name="connsiteX39" fmla="*/ 9501609 w 9700459"/>
              <a:gd name="connsiteY39" fmla="*/ 4908956 h 6858001"/>
              <a:gd name="connsiteX40" fmla="*/ 9516401 w 9700459"/>
              <a:gd name="connsiteY40" fmla="*/ 5138013 h 6858001"/>
              <a:gd name="connsiteX41" fmla="*/ 9532706 w 9700459"/>
              <a:gd name="connsiteY41" fmla="*/ 5354726 h 6858001"/>
              <a:gd name="connsiteX42" fmla="*/ 9549683 w 9700459"/>
              <a:gd name="connsiteY42" fmla="*/ 5561838 h 6858001"/>
              <a:gd name="connsiteX43" fmla="*/ 9568004 w 9700459"/>
              <a:gd name="connsiteY43" fmla="*/ 5753862 h 6858001"/>
              <a:gd name="connsiteX44" fmla="*/ 9585990 w 9700459"/>
              <a:gd name="connsiteY44" fmla="*/ 5934227 h 6858001"/>
              <a:gd name="connsiteX45" fmla="*/ 9603975 w 9700459"/>
              <a:gd name="connsiteY45" fmla="*/ 6100191 h 6858001"/>
              <a:gd name="connsiteX46" fmla="*/ 9620952 w 9700459"/>
              <a:gd name="connsiteY46" fmla="*/ 6252438 h 6858001"/>
              <a:gd name="connsiteX47" fmla="*/ 9637089 w 9700459"/>
              <a:gd name="connsiteY47" fmla="*/ 6387541 h 6858001"/>
              <a:gd name="connsiteX48" fmla="*/ 9652385 w 9700459"/>
              <a:gd name="connsiteY48" fmla="*/ 6509613 h 6858001"/>
              <a:gd name="connsiteX49" fmla="*/ 9665160 w 9700459"/>
              <a:gd name="connsiteY49" fmla="*/ 6612483 h 6858001"/>
              <a:gd name="connsiteX50" fmla="*/ 9677262 w 9700459"/>
              <a:gd name="connsiteY50" fmla="*/ 6698894 h 6858001"/>
              <a:gd name="connsiteX51" fmla="*/ 9694576 w 9700459"/>
              <a:gd name="connsiteY51" fmla="*/ 6817538 h 6858001"/>
              <a:gd name="connsiteX52" fmla="*/ 9700459 w 9700459"/>
              <a:gd name="connsiteY52" fmla="*/ 6858000 h 6858001"/>
              <a:gd name="connsiteX53" fmla="*/ 8795105 w 9700459"/>
              <a:gd name="connsiteY53" fmla="*/ 6858000 h 6858001"/>
              <a:gd name="connsiteX54" fmla="*/ 8795105 w 9700459"/>
              <a:gd name="connsiteY54" fmla="*/ 6858001 h 6858001"/>
              <a:gd name="connsiteX55" fmla="*/ 2704541 w 9700459"/>
              <a:gd name="connsiteY55" fmla="*/ 6858001 h 6858001"/>
              <a:gd name="connsiteX56" fmla="*/ 2704541 w 9700459"/>
              <a:gd name="connsiteY56" fmla="*/ 6858000 h 6858001"/>
              <a:gd name="connsiteX57" fmla="*/ 1517015 w 9700459"/>
              <a:gd name="connsiteY57" fmla="*/ 6858000 h 6858001"/>
              <a:gd name="connsiteX58" fmla="*/ 1323975 w 9700459"/>
              <a:gd name="connsiteY58" fmla="*/ 6858000 h 6858001"/>
              <a:gd name="connsiteX59" fmla="*/ 0 w 9700459"/>
              <a:gd name="connsiteY5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9700459" h="6858001">
                <a:moveTo>
                  <a:pt x="0" y="0"/>
                </a:moveTo>
                <a:lnTo>
                  <a:pt x="1323975" y="0"/>
                </a:lnTo>
                <a:lnTo>
                  <a:pt x="1517015" y="0"/>
                </a:lnTo>
                <a:lnTo>
                  <a:pt x="3241265" y="0"/>
                </a:lnTo>
                <a:lnTo>
                  <a:pt x="3241265" y="1"/>
                </a:lnTo>
                <a:lnTo>
                  <a:pt x="8355744" y="1"/>
                </a:lnTo>
                <a:lnTo>
                  <a:pt x="8355744" y="0"/>
                </a:lnTo>
                <a:lnTo>
                  <a:pt x="9699282" y="0"/>
                </a:lnTo>
                <a:lnTo>
                  <a:pt x="9674237" y="155677"/>
                </a:lnTo>
                <a:lnTo>
                  <a:pt x="9650368" y="310668"/>
                </a:lnTo>
                <a:lnTo>
                  <a:pt x="9627004" y="466344"/>
                </a:lnTo>
                <a:lnTo>
                  <a:pt x="9607001" y="622707"/>
                </a:lnTo>
                <a:lnTo>
                  <a:pt x="9586830" y="778383"/>
                </a:lnTo>
                <a:lnTo>
                  <a:pt x="9568004" y="934746"/>
                </a:lnTo>
                <a:lnTo>
                  <a:pt x="9551868" y="1089051"/>
                </a:lnTo>
                <a:lnTo>
                  <a:pt x="9536572" y="1245413"/>
                </a:lnTo>
                <a:lnTo>
                  <a:pt x="9522620" y="1401090"/>
                </a:lnTo>
                <a:lnTo>
                  <a:pt x="9510518" y="1554023"/>
                </a:lnTo>
                <a:lnTo>
                  <a:pt x="9498415" y="1709014"/>
                </a:lnTo>
                <a:lnTo>
                  <a:pt x="9488330" y="1861947"/>
                </a:lnTo>
                <a:lnTo>
                  <a:pt x="9480430" y="2014881"/>
                </a:lnTo>
                <a:lnTo>
                  <a:pt x="9472193" y="2167128"/>
                </a:lnTo>
                <a:lnTo>
                  <a:pt x="9465302" y="2318004"/>
                </a:lnTo>
                <a:lnTo>
                  <a:pt x="9460427" y="2467509"/>
                </a:lnTo>
                <a:lnTo>
                  <a:pt x="9456225" y="2617013"/>
                </a:lnTo>
                <a:lnTo>
                  <a:pt x="9452191" y="2765146"/>
                </a:lnTo>
                <a:lnTo>
                  <a:pt x="9450342" y="2911221"/>
                </a:lnTo>
                <a:lnTo>
                  <a:pt x="9448325" y="3057297"/>
                </a:lnTo>
                <a:lnTo>
                  <a:pt x="9447316" y="3201315"/>
                </a:lnTo>
                <a:lnTo>
                  <a:pt x="9448325" y="3343961"/>
                </a:lnTo>
                <a:lnTo>
                  <a:pt x="9448325" y="3485236"/>
                </a:lnTo>
                <a:lnTo>
                  <a:pt x="9450342" y="3625139"/>
                </a:lnTo>
                <a:lnTo>
                  <a:pt x="9453367" y="3762299"/>
                </a:lnTo>
                <a:lnTo>
                  <a:pt x="9456225" y="3898087"/>
                </a:lnTo>
                <a:lnTo>
                  <a:pt x="9459419" y="4031133"/>
                </a:lnTo>
                <a:lnTo>
                  <a:pt x="9464293" y="4163492"/>
                </a:lnTo>
                <a:lnTo>
                  <a:pt x="9469504" y="4293793"/>
                </a:lnTo>
                <a:lnTo>
                  <a:pt x="9474210" y="4421352"/>
                </a:lnTo>
                <a:lnTo>
                  <a:pt x="9487490" y="4670298"/>
                </a:lnTo>
                <a:lnTo>
                  <a:pt x="9501609" y="4908956"/>
                </a:lnTo>
                <a:lnTo>
                  <a:pt x="9516401" y="5138013"/>
                </a:lnTo>
                <a:lnTo>
                  <a:pt x="9532706" y="5354726"/>
                </a:lnTo>
                <a:lnTo>
                  <a:pt x="9549683" y="5561838"/>
                </a:lnTo>
                <a:lnTo>
                  <a:pt x="9568004" y="5753862"/>
                </a:lnTo>
                <a:lnTo>
                  <a:pt x="9585990" y="5934227"/>
                </a:lnTo>
                <a:lnTo>
                  <a:pt x="9603975" y="6100191"/>
                </a:lnTo>
                <a:lnTo>
                  <a:pt x="9620952" y="6252438"/>
                </a:lnTo>
                <a:lnTo>
                  <a:pt x="9637089" y="6387541"/>
                </a:lnTo>
                <a:lnTo>
                  <a:pt x="9652385" y="6509613"/>
                </a:lnTo>
                <a:lnTo>
                  <a:pt x="9665160" y="6612483"/>
                </a:lnTo>
                <a:lnTo>
                  <a:pt x="9677262" y="6698894"/>
                </a:lnTo>
                <a:lnTo>
                  <a:pt x="9694576" y="6817538"/>
                </a:lnTo>
                <a:lnTo>
                  <a:pt x="9700459" y="6858000"/>
                </a:lnTo>
                <a:lnTo>
                  <a:pt x="8795105" y="6858000"/>
                </a:lnTo>
                <a:lnTo>
                  <a:pt x="8795105" y="6858001"/>
                </a:lnTo>
                <a:lnTo>
                  <a:pt x="2704541" y="6858001"/>
                </a:lnTo>
                <a:lnTo>
                  <a:pt x="2704541" y="6858000"/>
                </a:lnTo>
                <a:lnTo>
                  <a:pt x="1517015" y="6858000"/>
                </a:lnTo>
                <a:lnTo>
                  <a:pt x="1323975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6974911" cy="86142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Artificial Intelligence Course Project</a:t>
            </a:r>
          </a:p>
          <a:p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6974915" cy="332958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000"/>
              <a:t>Comparative Analysis of Search Strategies</a:t>
            </a:r>
          </a:p>
          <a:p>
            <a:pPr>
              <a:lnSpc>
                <a:spcPct val="90000"/>
              </a:lnSpc>
            </a:pPr>
            <a:r>
              <a:rPr lang="en-US" sz="5000"/>
              <a:t>for Maze Pathfinding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61A74B3-E247-44D4-8C48-FAE8E20564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4CD14DB-BB81-479F-A1FC-1C75640E9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43A91B-7CA7-4592-A975-73B1BF8C4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EC471314-E46A-414B-8D91-74880E84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6A681326-1C9D-44A3-A627-3871BDAE4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</p:spPr>
        <p:txBody>
          <a:bodyPr anchor="ctr">
            <a:normAutofit/>
          </a:bodyPr>
          <a:lstStyle/>
          <a:p>
            <a:pPr>
              <a:defRPr b="1">
                <a:solidFill>
                  <a:srgbClr val="0F172A"/>
                </a:solidFill>
              </a:defRPr>
            </a:pPr>
            <a:r>
              <a:rPr lang="en-US">
                <a:solidFill>
                  <a:srgbClr val="FFFFFF"/>
                </a:solidFill>
              </a:rPr>
              <a:t>The Challenge: Maze Pathfinding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763520"/>
            <a:ext cx="8946541" cy="348487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  <a:defRPr sz="2000"/>
            </a:pPr>
            <a:r>
              <a:rPr lang="en-US" sz="1700" b="1" dirty="0"/>
              <a:t>Objective: Navigate an intelligent agent (robot) through a grid-based maze.</a:t>
            </a:r>
          </a:p>
          <a:p>
            <a:pPr>
              <a:lnSpc>
                <a:spcPct val="90000"/>
              </a:lnSpc>
              <a:spcAft>
                <a:spcPts val="1000"/>
              </a:spcAft>
              <a:defRPr sz="2000"/>
            </a:pPr>
            <a:r>
              <a:rPr lang="en-US" sz="1700" b="1" dirty="0"/>
              <a:t>Goal: Find a valid path from a Start Point (S) to a Goal Point (G).</a:t>
            </a:r>
          </a:p>
          <a:p>
            <a:pPr>
              <a:lnSpc>
                <a:spcPct val="90000"/>
              </a:lnSpc>
              <a:spcAft>
                <a:spcPts val="1000"/>
              </a:spcAft>
              <a:defRPr sz="2000"/>
            </a:pPr>
            <a:r>
              <a:rPr lang="en-US" sz="1700" b="1" dirty="0"/>
              <a:t>Environment Constraints:</a:t>
            </a:r>
          </a:p>
          <a:p>
            <a:pPr lvl="1">
              <a:lnSpc>
                <a:spcPct val="90000"/>
              </a:lnSpc>
              <a:spcAft>
                <a:spcPts val="1000"/>
              </a:spcAft>
              <a:defRPr sz="2000"/>
            </a:pPr>
            <a:r>
              <a:rPr lang="en-US" sz="1700" b="1" dirty="0"/>
              <a:t>- N x N Grid.</a:t>
            </a:r>
          </a:p>
          <a:p>
            <a:pPr lvl="1">
              <a:lnSpc>
                <a:spcPct val="90000"/>
              </a:lnSpc>
              <a:spcAft>
                <a:spcPts val="1000"/>
              </a:spcAft>
              <a:defRPr sz="2000"/>
            </a:pPr>
            <a:r>
              <a:rPr lang="en-US" sz="1700" b="1" dirty="0"/>
              <a:t>- Static obstacles (walls) randomly distributed.</a:t>
            </a:r>
          </a:p>
          <a:p>
            <a:pPr lvl="1">
              <a:lnSpc>
                <a:spcPct val="90000"/>
              </a:lnSpc>
              <a:spcAft>
                <a:spcPts val="1000"/>
              </a:spcAft>
              <a:defRPr sz="2000"/>
            </a:pPr>
            <a:r>
              <a:rPr lang="en-US" sz="1700" b="1" dirty="0"/>
              <a:t>- Movement allowed in 4 directions (Up, Down, Left, Right).</a:t>
            </a:r>
          </a:p>
          <a:p>
            <a:pPr lvl="1">
              <a:lnSpc>
                <a:spcPct val="90000"/>
              </a:lnSpc>
              <a:spcAft>
                <a:spcPts val="1000"/>
              </a:spcAft>
              <a:defRPr sz="2000"/>
            </a:pPr>
            <a:r>
              <a:rPr lang="en-US" sz="1700" b="1" dirty="0"/>
              <a:t>- Constant step cost = 1.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52BEFF1-896C-45B1-B02C-96A6A1BC38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36">
            <a:extLst>
              <a:ext uri="{FF2B5EF4-FFF2-40B4-BE49-F238E27FC236}">
                <a16:creationId xmlns:a16="http://schemas.microsoft.com/office/drawing/2014/main" id="{BB237A14-61B1-4C00-A670-5D8D68A866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44637" y="0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8F259-6F54-47A3-8D13-1603D786A3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990911" cy="6858001"/>
          </a:xfrm>
          <a:custGeom>
            <a:avLst/>
            <a:gdLst>
              <a:gd name="connsiteX0" fmla="*/ 3646196 w 4990911"/>
              <a:gd name="connsiteY0" fmla="*/ 0 h 6858001"/>
              <a:gd name="connsiteX1" fmla="*/ 4989734 w 4990911"/>
              <a:gd name="connsiteY1" fmla="*/ 0 h 6858001"/>
              <a:gd name="connsiteX2" fmla="*/ 4964689 w 4990911"/>
              <a:gd name="connsiteY2" fmla="*/ 155677 h 6858001"/>
              <a:gd name="connsiteX3" fmla="*/ 4940820 w 4990911"/>
              <a:gd name="connsiteY3" fmla="*/ 310668 h 6858001"/>
              <a:gd name="connsiteX4" fmla="*/ 4917456 w 4990911"/>
              <a:gd name="connsiteY4" fmla="*/ 466344 h 6858001"/>
              <a:gd name="connsiteX5" fmla="*/ 4897453 w 4990911"/>
              <a:gd name="connsiteY5" fmla="*/ 622707 h 6858001"/>
              <a:gd name="connsiteX6" fmla="*/ 4877282 w 4990911"/>
              <a:gd name="connsiteY6" fmla="*/ 778383 h 6858001"/>
              <a:gd name="connsiteX7" fmla="*/ 4858456 w 4990911"/>
              <a:gd name="connsiteY7" fmla="*/ 934746 h 6858001"/>
              <a:gd name="connsiteX8" fmla="*/ 4842320 w 4990911"/>
              <a:gd name="connsiteY8" fmla="*/ 1089051 h 6858001"/>
              <a:gd name="connsiteX9" fmla="*/ 4827024 w 4990911"/>
              <a:gd name="connsiteY9" fmla="*/ 1245413 h 6858001"/>
              <a:gd name="connsiteX10" fmla="*/ 4813072 w 4990911"/>
              <a:gd name="connsiteY10" fmla="*/ 1401090 h 6858001"/>
              <a:gd name="connsiteX11" fmla="*/ 4800970 w 4990911"/>
              <a:gd name="connsiteY11" fmla="*/ 1554023 h 6858001"/>
              <a:gd name="connsiteX12" fmla="*/ 4788867 w 4990911"/>
              <a:gd name="connsiteY12" fmla="*/ 1709014 h 6858001"/>
              <a:gd name="connsiteX13" fmla="*/ 4778782 w 4990911"/>
              <a:gd name="connsiteY13" fmla="*/ 1861947 h 6858001"/>
              <a:gd name="connsiteX14" fmla="*/ 4770882 w 4990911"/>
              <a:gd name="connsiteY14" fmla="*/ 2014881 h 6858001"/>
              <a:gd name="connsiteX15" fmla="*/ 4762645 w 4990911"/>
              <a:gd name="connsiteY15" fmla="*/ 2167128 h 6858001"/>
              <a:gd name="connsiteX16" fmla="*/ 4755754 w 4990911"/>
              <a:gd name="connsiteY16" fmla="*/ 2318004 h 6858001"/>
              <a:gd name="connsiteX17" fmla="*/ 4750879 w 4990911"/>
              <a:gd name="connsiteY17" fmla="*/ 2467509 h 6858001"/>
              <a:gd name="connsiteX18" fmla="*/ 4746677 w 4990911"/>
              <a:gd name="connsiteY18" fmla="*/ 2617013 h 6858001"/>
              <a:gd name="connsiteX19" fmla="*/ 4742643 w 4990911"/>
              <a:gd name="connsiteY19" fmla="*/ 2765146 h 6858001"/>
              <a:gd name="connsiteX20" fmla="*/ 4740794 w 4990911"/>
              <a:gd name="connsiteY20" fmla="*/ 2911221 h 6858001"/>
              <a:gd name="connsiteX21" fmla="*/ 4738777 w 4990911"/>
              <a:gd name="connsiteY21" fmla="*/ 3057297 h 6858001"/>
              <a:gd name="connsiteX22" fmla="*/ 4737768 w 4990911"/>
              <a:gd name="connsiteY22" fmla="*/ 3201315 h 6858001"/>
              <a:gd name="connsiteX23" fmla="*/ 4738777 w 4990911"/>
              <a:gd name="connsiteY23" fmla="*/ 3343961 h 6858001"/>
              <a:gd name="connsiteX24" fmla="*/ 4738777 w 4990911"/>
              <a:gd name="connsiteY24" fmla="*/ 3485236 h 6858001"/>
              <a:gd name="connsiteX25" fmla="*/ 4740794 w 4990911"/>
              <a:gd name="connsiteY25" fmla="*/ 3625139 h 6858001"/>
              <a:gd name="connsiteX26" fmla="*/ 4743819 w 4990911"/>
              <a:gd name="connsiteY26" fmla="*/ 3762299 h 6858001"/>
              <a:gd name="connsiteX27" fmla="*/ 4746677 w 4990911"/>
              <a:gd name="connsiteY27" fmla="*/ 3898087 h 6858001"/>
              <a:gd name="connsiteX28" fmla="*/ 4749871 w 4990911"/>
              <a:gd name="connsiteY28" fmla="*/ 4031133 h 6858001"/>
              <a:gd name="connsiteX29" fmla="*/ 4754745 w 4990911"/>
              <a:gd name="connsiteY29" fmla="*/ 4163492 h 6858001"/>
              <a:gd name="connsiteX30" fmla="*/ 4759956 w 4990911"/>
              <a:gd name="connsiteY30" fmla="*/ 4293793 h 6858001"/>
              <a:gd name="connsiteX31" fmla="*/ 4764662 w 4990911"/>
              <a:gd name="connsiteY31" fmla="*/ 4421352 h 6858001"/>
              <a:gd name="connsiteX32" fmla="*/ 4777942 w 4990911"/>
              <a:gd name="connsiteY32" fmla="*/ 4670298 h 6858001"/>
              <a:gd name="connsiteX33" fmla="*/ 4792061 w 4990911"/>
              <a:gd name="connsiteY33" fmla="*/ 4908956 h 6858001"/>
              <a:gd name="connsiteX34" fmla="*/ 4806853 w 4990911"/>
              <a:gd name="connsiteY34" fmla="*/ 5138013 h 6858001"/>
              <a:gd name="connsiteX35" fmla="*/ 4823158 w 4990911"/>
              <a:gd name="connsiteY35" fmla="*/ 5354726 h 6858001"/>
              <a:gd name="connsiteX36" fmla="*/ 4840135 w 4990911"/>
              <a:gd name="connsiteY36" fmla="*/ 5561838 h 6858001"/>
              <a:gd name="connsiteX37" fmla="*/ 4858456 w 4990911"/>
              <a:gd name="connsiteY37" fmla="*/ 5753862 h 6858001"/>
              <a:gd name="connsiteX38" fmla="*/ 4876442 w 4990911"/>
              <a:gd name="connsiteY38" fmla="*/ 5934227 h 6858001"/>
              <a:gd name="connsiteX39" fmla="*/ 4894427 w 4990911"/>
              <a:gd name="connsiteY39" fmla="*/ 6100191 h 6858001"/>
              <a:gd name="connsiteX40" fmla="*/ 4911404 w 4990911"/>
              <a:gd name="connsiteY40" fmla="*/ 6252438 h 6858001"/>
              <a:gd name="connsiteX41" fmla="*/ 4927541 w 4990911"/>
              <a:gd name="connsiteY41" fmla="*/ 6387541 h 6858001"/>
              <a:gd name="connsiteX42" fmla="*/ 4942837 w 4990911"/>
              <a:gd name="connsiteY42" fmla="*/ 6509613 h 6858001"/>
              <a:gd name="connsiteX43" fmla="*/ 4955612 w 4990911"/>
              <a:gd name="connsiteY43" fmla="*/ 6612483 h 6858001"/>
              <a:gd name="connsiteX44" fmla="*/ 4967714 w 4990911"/>
              <a:gd name="connsiteY44" fmla="*/ 6698894 h 6858001"/>
              <a:gd name="connsiteX45" fmla="*/ 4985028 w 4990911"/>
              <a:gd name="connsiteY45" fmla="*/ 6817538 h 6858001"/>
              <a:gd name="connsiteX46" fmla="*/ 4990911 w 4990911"/>
              <a:gd name="connsiteY46" fmla="*/ 6858000 h 6858001"/>
              <a:gd name="connsiteX47" fmla="*/ 4085557 w 4990911"/>
              <a:gd name="connsiteY47" fmla="*/ 6858000 h 6858001"/>
              <a:gd name="connsiteX48" fmla="*/ 4085557 w 4990911"/>
              <a:gd name="connsiteY48" fmla="*/ 6858001 h 6858001"/>
              <a:gd name="connsiteX49" fmla="*/ 0 w 4990911"/>
              <a:gd name="connsiteY49" fmla="*/ 6858001 h 6858001"/>
              <a:gd name="connsiteX50" fmla="*/ 0 w 4990911"/>
              <a:gd name="connsiteY50" fmla="*/ 1 h 6858001"/>
              <a:gd name="connsiteX51" fmla="*/ 3646196 w 4990911"/>
              <a:gd name="connsiteY51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990911" h="6858001">
                <a:moveTo>
                  <a:pt x="3646196" y="0"/>
                </a:moveTo>
                <a:lnTo>
                  <a:pt x="4989734" y="0"/>
                </a:lnTo>
                <a:lnTo>
                  <a:pt x="4964689" y="155677"/>
                </a:lnTo>
                <a:lnTo>
                  <a:pt x="4940820" y="310668"/>
                </a:lnTo>
                <a:lnTo>
                  <a:pt x="4917456" y="466344"/>
                </a:lnTo>
                <a:lnTo>
                  <a:pt x="4897453" y="622707"/>
                </a:lnTo>
                <a:lnTo>
                  <a:pt x="4877282" y="778383"/>
                </a:lnTo>
                <a:lnTo>
                  <a:pt x="4858456" y="934746"/>
                </a:lnTo>
                <a:lnTo>
                  <a:pt x="4842320" y="1089051"/>
                </a:lnTo>
                <a:lnTo>
                  <a:pt x="4827024" y="1245413"/>
                </a:lnTo>
                <a:lnTo>
                  <a:pt x="4813072" y="1401090"/>
                </a:lnTo>
                <a:lnTo>
                  <a:pt x="4800970" y="1554023"/>
                </a:lnTo>
                <a:lnTo>
                  <a:pt x="4788867" y="1709014"/>
                </a:lnTo>
                <a:lnTo>
                  <a:pt x="4778782" y="1861947"/>
                </a:lnTo>
                <a:lnTo>
                  <a:pt x="4770882" y="2014881"/>
                </a:lnTo>
                <a:lnTo>
                  <a:pt x="4762645" y="2167128"/>
                </a:lnTo>
                <a:lnTo>
                  <a:pt x="4755754" y="2318004"/>
                </a:lnTo>
                <a:lnTo>
                  <a:pt x="4750879" y="2467509"/>
                </a:lnTo>
                <a:lnTo>
                  <a:pt x="4746677" y="2617013"/>
                </a:lnTo>
                <a:lnTo>
                  <a:pt x="4742643" y="2765146"/>
                </a:lnTo>
                <a:lnTo>
                  <a:pt x="4740794" y="2911221"/>
                </a:lnTo>
                <a:lnTo>
                  <a:pt x="4738777" y="3057297"/>
                </a:lnTo>
                <a:lnTo>
                  <a:pt x="4737768" y="3201315"/>
                </a:lnTo>
                <a:lnTo>
                  <a:pt x="4738777" y="3343961"/>
                </a:lnTo>
                <a:lnTo>
                  <a:pt x="4738777" y="3485236"/>
                </a:lnTo>
                <a:lnTo>
                  <a:pt x="4740794" y="3625139"/>
                </a:lnTo>
                <a:lnTo>
                  <a:pt x="4743819" y="3762299"/>
                </a:lnTo>
                <a:lnTo>
                  <a:pt x="4746677" y="3898087"/>
                </a:lnTo>
                <a:lnTo>
                  <a:pt x="4749871" y="4031133"/>
                </a:lnTo>
                <a:lnTo>
                  <a:pt x="4754745" y="4163492"/>
                </a:lnTo>
                <a:lnTo>
                  <a:pt x="4759956" y="4293793"/>
                </a:lnTo>
                <a:lnTo>
                  <a:pt x="4764662" y="4421352"/>
                </a:lnTo>
                <a:lnTo>
                  <a:pt x="4777942" y="4670298"/>
                </a:lnTo>
                <a:lnTo>
                  <a:pt x="4792061" y="4908956"/>
                </a:lnTo>
                <a:lnTo>
                  <a:pt x="4806853" y="5138013"/>
                </a:lnTo>
                <a:lnTo>
                  <a:pt x="4823158" y="5354726"/>
                </a:lnTo>
                <a:lnTo>
                  <a:pt x="4840135" y="5561838"/>
                </a:lnTo>
                <a:lnTo>
                  <a:pt x="4858456" y="5753862"/>
                </a:lnTo>
                <a:lnTo>
                  <a:pt x="4876442" y="5934227"/>
                </a:lnTo>
                <a:lnTo>
                  <a:pt x="4894427" y="6100191"/>
                </a:lnTo>
                <a:lnTo>
                  <a:pt x="4911404" y="6252438"/>
                </a:lnTo>
                <a:lnTo>
                  <a:pt x="4927541" y="6387541"/>
                </a:lnTo>
                <a:lnTo>
                  <a:pt x="4942837" y="6509613"/>
                </a:lnTo>
                <a:lnTo>
                  <a:pt x="4955612" y="6612483"/>
                </a:lnTo>
                <a:lnTo>
                  <a:pt x="4967714" y="6698894"/>
                </a:lnTo>
                <a:lnTo>
                  <a:pt x="4985028" y="6817538"/>
                </a:lnTo>
                <a:lnTo>
                  <a:pt x="4990911" y="6858000"/>
                </a:lnTo>
                <a:lnTo>
                  <a:pt x="4085557" y="6858000"/>
                </a:lnTo>
                <a:lnTo>
                  <a:pt x="4085557" y="6858001"/>
                </a:lnTo>
                <a:lnTo>
                  <a:pt x="0" y="6858001"/>
                </a:lnTo>
                <a:lnTo>
                  <a:pt x="0" y="1"/>
                </a:lnTo>
                <a:lnTo>
                  <a:pt x="3646196" y="1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BA768A8-4FED-4ED8-9E46-6BE72188EC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3143" y="1645920"/>
            <a:ext cx="3522879" cy="4470821"/>
          </a:xfrm>
        </p:spPr>
        <p:txBody>
          <a:bodyPr>
            <a:normAutofit/>
          </a:bodyPr>
          <a:lstStyle/>
          <a:p>
            <a:pPr algn="r">
              <a:defRPr b="1">
                <a:solidFill>
                  <a:srgbClr val="0F172A"/>
                </a:solidFill>
              </a:defRPr>
            </a:pPr>
            <a:r>
              <a:rPr lang="en-US" sz="3900">
                <a:solidFill>
                  <a:srgbClr val="FFFFFF"/>
                </a:solidFill>
              </a:rPr>
              <a:t>Methodology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04109" y="1645920"/>
            <a:ext cx="5919503" cy="447082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  <a:defRPr sz="2000"/>
            </a:pPr>
            <a:r>
              <a:rPr lang="en-US" sz="1700" b="1" dirty="0"/>
              <a:t>Goal: To compare the efficiency of different AI search strategies.</a:t>
            </a:r>
          </a:p>
          <a:p>
            <a:pPr>
              <a:lnSpc>
                <a:spcPct val="90000"/>
              </a:lnSpc>
              <a:spcAft>
                <a:spcPts val="1000"/>
              </a:spcAft>
              <a:defRPr sz="2000"/>
            </a:pPr>
            <a:r>
              <a:rPr lang="en-US" sz="1700" b="1" dirty="0"/>
              <a:t>Selected Algorithms (5 types):</a:t>
            </a:r>
          </a:p>
          <a:p>
            <a:pPr lvl="1">
              <a:lnSpc>
                <a:spcPct val="90000"/>
              </a:lnSpc>
              <a:spcAft>
                <a:spcPts val="1000"/>
              </a:spcAft>
              <a:defRPr sz="2000"/>
            </a:pPr>
            <a:r>
              <a:rPr lang="en-US" sz="1700" b="1" dirty="0"/>
              <a:t>- Uninformed Search (Blind): BFS, DFS, UCS, IDS.</a:t>
            </a:r>
          </a:p>
          <a:p>
            <a:pPr lvl="1">
              <a:lnSpc>
                <a:spcPct val="90000"/>
              </a:lnSpc>
              <a:spcAft>
                <a:spcPts val="1000"/>
              </a:spcAft>
              <a:defRPr sz="2000"/>
            </a:pPr>
            <a:r>
              <a:rPr lang="en-US" sz="1700" b="1" dirty="0"/>
              <a:t>- Informed Search (Heuristic): A* Search.</a:t>
            </a:r>
          </a:p>
          <a:p>
            <a:pPr>
              <a:lnSpc>
                <a:spcPct val="90000"/>
              </a:lnSpc>
              <a:spcAft>
                <a:spcPts val="1000"/>
              </a:spcAft>
              <a:defRPr sz="2000"/>
            </a:pPr>
            <a:r>
              <a:rPr lang="en-US" sz="1700" b="1" dirty="0"/>
              <a:t>Evaluation Metrics:</a:t>
            </a:r>
          </a:p>
          <a:p>
            <a:pPr lvl="1">
              <a:lnSpc>
                <a:spcPct val="90000"/>
              </a:lnSpc>
              <a:spcAft>
                <a:spcPts val="1000"/>
              </a:spcAft>
              <a:defRPr sz="2000"/>
            </a:pPr>
            <a:r>
              <a:rPr lang="en-US" sz="1700" b="1" dirty="0"/>
              <a:t>- Time Complexity: Execution speed.</a:t>
            </a:r>
          </a:p>
          <a:p>
            <a:pPr lvl="1">
              <a:lnSpc>
                <a:spcPct val="90000"/>
              </a:lnSpc>
              <a:spcAft>
                <a:spcPts val="1000"/>
              </a:spcAft>
              <a:defRPr sz="2000"/>
            </a:pPr>
            <a:r>
              <a:rPr lang="en-US" sz="1700" b="1" dirty="0"/>
              <a:t>- Space Complexity: Memory usage (Nodes expanded).</a:t>
            </a:r>
          </a:p>
          <a:p>
            <a:pPr lvl="1">
              <a:lnSpc>
                <a:spcPct val="90000"/>
              </a:lnSpc>
              <a:spcAft>
                <a:spcPts val="1000"/>
              </a:spcAft>
              <a:defRPr sz="2000"/>
            </a:pPr>
            <a:r>
              <a:rPr lang="en-US" sz="1700" b="1" dirty="0"/>
              <a:t>- Optimality: Guarantee of the shortest path.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052BEFF1-896C-45B1-B02C-96A6A1BC38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Freeform 36">
            <a:extLst>
              <a:ext uri="{FF2B5EF4-FFF2-40B4-BE49-F238E27FC236}">
                <a16:creationId xmlns:a16="http://schemas.microsoft.com/office/drawing/2014/main" id="{BB237A14-61B1-4C00-A670-5D8D68A866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44637" y="0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8598F259-6F54-47A3-8D13-1603D786A3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990911" cy="6858001"/>
          </a:xfrm>
          <a:custGeom>
            <a:avLst/>
            <a:gdLst>
              <a:gd name="connsiteX0" fmla="*/ 3646196 w 4990911"/>
              <a:gd name="connsiteY0" fmla="*/ 0 h 6858001"/>
              <a:gd name="connsiteX1" fmla="*/ 4989734 w 4990911"/>
              <a:gd name="connsiteY1" fmla="*/ 0 h 6858001"/>
              <a:gd name="connsiteX2" fmla="*/ 4964689 w 4990911"/>
              <a:gd name="connsiteY2" fmla="*/ 155677 h 6858001"/>
              <a:gd name="connsiteX3" fmla="*/ 4940820 w 4990911"/>
              <a:gd name="connsiteY3" fmla="*/ 310668 h 6858001"/>
              <a:gd name="connsiteX4" fmla="*/ 4917456 w 4990911"/>
              <a:gd name="connsiteY4" fmla="*/ 466344 h 6858001"/>
              <a:gd name="connsiteX5" fmla="*/ 4897453 w 4990911"/>
              <a:gd name="connsiteY5" fmla="*/ 622707 h 6858001"/>
              <a:gd name="connsiteX6" fmla="*/ 4877282 w 4990911"/>
              <a:gd name="connsiteY6" fmla="*/ 778383 h 6858001"/>
              <a:gd name="connsiteX7" fmla="*/ 4858456 w 4990911"/>
              <a:gd name="connsiteY7" fmla="*/ 934746 h 6858001"/>
              <a:gd name="connsiteX8" fmla="*/ 4842320 w 4990911"/>
              <a:gd name="connsiteY8" fmla="*/ 1089051 h 6858001"/>
              <a:gd name="connsiteX9" fmla="*/ 4827024 w 4990911"/>
              <a:gd name="connsiteY9" fmla="*/ 1245413 h 6858001"/>
              <a:gd name="connsiteX10" fmla="*/ 4813072 w 4990911"/>
              <a:gd name="connsiteY10" fmla="*/ 1401090 h 6858001"/>
              <a:gd name="connsiteX11" fmla="*/ 4800970 w 4990911"/>
              <a:gd name="connsiteY11" fmla="*/ 1554023 h 6858001"/>
              <a:gd name="connsiteX12" fmla="*/ 4788867 w 4990911"/>
              <a:gd name="connsiteY12" fmla="*/ 1709014 h 6858001"/>
              <a:gd name="connsiteX13" fmla="*/ 4778782 w 4990911"/>
              <a:gd name="connsiteY13" fmla="*/ 1861947 h 6858001"/>
              <a:gd name="connsiteX14" fmla="*/ 4770882 w 4990911"/>
              <a:gd name="connsiteY14" fmla="*/ 2014881 h 6858001"/>
              <a:gd name="connsiteX15" fmla="*/ 4762645 w 4990911"/>
              <a:gd name="connsiteY15" fmla="*/ 2167128 h 6858001"/>
              <a:gd name="connsiteX16" fmla="*/ 4755754 w 4990911"/>
              <a:gd name="connsiteY16" fmla="*/ 2318004 h 6858001"/>
              <a:gd name="connsiteX17" fmla="*/ 4750879 w 4990911"/>
              <a:gd name="connsiteY17" fmla="*/ 2467509 h 6858001"/>
              <a:gd name="connsiteX18" fmla="*/ 4746677 w 4990911"/>
              <a:gd name="connsiteY18" fmla="*/ 2617013 h 6858001"/>
              <a:gd name="connsiteX19" fmla="*/ 4742643 w 4990911"/>
              <a:gd name="connsiteY19" fmla="*/ 2765146 h 6858001"/>
              <a:gd name="connsiteX20" fmla="*/ 4740794 w 4990911"/>
              <a:gd name="connsiteY20" fmla="*/ 2911221 h 6858001"/>
              <a:gd name="connsiteX21" fmla="*/ 4738777 w 4990911"/>
              <a:gd name="connsiteY21" fmla="*/ 3057297 h 6858001"/>
              <a:gd name="connsiteX22" fmla="*/ 4737768 w 4990911"/>
              <a:gd name="connsiteY22" fmla="*/ 3201315 h 6858001"/>
              <a:gd name="connsiteX23" fmla="*/ 4738777 w 4990911"/>
              <a:gd name="connsiteY23" fmla="*/ 3343961 h 6858001"/>
              <a:gd name="connsiteX24" fmla="*/ 4738777 w 4990911"/>
              <a:gd name="connsiteY24" fmla="*/ 3485236 h 6858001"/>
              <a:gd name="connsiteX25" fmla="*/ 4740794 w 4990911"/>
              <a:gd name="connsiteY25" fmla="*/ 3625139 h 6858001"/>
              <a:gd name="connsiteX26" fmla="*/ 4743819 w 4990911"/>
              <a:gd name="connsiteY26" fmla="*/ 3762299 h 6858001"/>
              <a:gd name="connsiteX27" fmla="*/ 4746677 w 4990911"/>
              <a:gd name="connsiteY27" fmla="*/ 3898087 h 6858001"/>
              <a:gd name="connsiteX28" fmla="*/ 4749871 w 4990911"/>
              <a:gd name="connsiteY28" fmla="*/ 4031133 h 6858001"/>
              <a:gd name="connsiteX29" fmla="*/ 4754745 w 4990911"/>
              <a:gd name="connsiteY29" fmla="*/ 4163492 h 6858001"/>
              <a:gd name="connsiteX30" fmla="*/ 4759956 w 4990911"/>
              <a:gd name="connsiteY30" fmla="*/ 4293793 h 6858001"/>
              <a:gd name="connsiteX31" fmla="*/ 4764662 w 4990911"/>
              <a:gd name="connsiteY31" fmla="*/ 4421352 h 6858001"/>
              <a:gd name="connsiteX32" fmla="*/ 4777942 w 4990911"/>
              <a:gd name="connsiteY32" fmla="*/ 4670298 h 6858001"/>
              <a:gd name="connsiteX33" fmla="*/ 4792061 w 4990911"/>
              <a:gd name="connsiteY33" fmla="*/ 4908956 h 6858001"/>
              <a:gd name="connsiteX34" fmla="*/ 4806853 w 4990911"/>
              <a:gd name="connsiteY34" fmla="*/ 5138013 h 6858001"/>
              <a:gd name="connsiteX35" fmla="*/ 4823158 w 4990911"/>
              <a:gd name="connsiteY35" fmla="*/ 5354726 h 6858001"/>
              <a:gd name="connsiteX36" fmla="*/ 4840135 w 4990911"/>
              <a:gd name="connsiteY36" fmla="*/ 5561838 h 6858001"/>
              <a:gd name="connsiteX37" fmla="*/ 4858456 w 4990911"/>
              <a:gd name="connsiteY37" fmla="*/ 5753862 h 6858001"/>
              <a:gd name="connsiteX38" fmla="*/ 4876442 w 4990911"/>
              <a:gd name="connsiteY38" fmla="*/ 5934227 h 6858001"/>
              <a:gd name="connsiteX39" fmla="*/ 4894427 w 4990911"/>
              <a:gd name="connsiteY39" fmla="*/ 6100191 h 6858001"/>
              <a:gd name="connsiteX40" fmla="*/ 4911404 w 4990911"/>
              <a:gd name="connsiteY40" fmla="*/ 6252438 h 6858001"/>
              <a:gd name="connsiteX41" fmla="*/ 4927541 w 4990911"/>
              <a:gd name="connsiteY41" fmla="*/ 6387541 h 6858001"/>
              <a:gd name="connsiteX42" fmla="*/ 4942837 w 4990911"/>
              <a:gd name="connsiteY42" fmla="*/ 6509613 h 6858001"/>
              <a:gd name="connsiteX43" fmla="*/ 4955612 w 4990911"/>
              <a:gd name="connsiteY43" fmla="*/ 6612483 h 6858001"/>
              <a:gd name="connsiteX44" fmla="*/ 4967714 w 4990911"/>
              <a:gd name="connsiteY44" fmla="*/ 6698894 h 6858001"/>
              <a:gd name="connsiteX45" fmla="*/ 4985028 w 4990911"/>
              <a:gd name="connsiteY45" fmla="*/ 6817538 h 6858001"/>
              <a:gd name="connsiteX46" fmla="*/ 4990911 w 4990911"/>
              <a:gd name="connsiteY46" fmla="*/ 6858000 h 6858001"/>
              <a:gd name="connsiteX47" fmla="*/ 4085557 w 4990911"/>
              <a:gd name="connsiteY47" fmla="*/ 6858000 h 6858001"/>
              <a:gd name="connsiteX48" fmla="*/ 4085557 w 4990911"/>
              <a:gd name="connsiteY48" fmla="*/ 6858001 h 6858001"/>
              <a:gd name="connsiteX49" fmla="*/ 0 w 4990911"/>
              <a:gd name="connsiteY49" fmla="*/ 6858001 h 6858001"/>
              <a:gd name="connsiteX50" fmla="*/ 0 w 4990911"/>
              <a:gd name="connsiteY50" fmla="*/ 1 h 6858001"/>
              <a:gd name="connsiteX51" fmla="*/ 3646196 w 4990911"/>
              <a:gd name="connsiteY51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990911" h="6858001">
                <a:moveTo>
                  <a:pt x="3646196" y="0"/>
                </a:moveTo>
                <a:lnTo>
                  <a:pt x="4989734" y="0"/>
                </a:lnTo>
                <a:lnTo>
                  <a:pt x="4964689" y="155677"/>
                </a:lnTo>
                <a:lnTo>
                  <a:pt x="4940820" y="310668"/>
                </a:lnTo>
                <a:lnTo>
                  <a:pt x="4917456" y="466344"/>
                </a:lnTo>
                <a:lnTo>
                  <a:pt x="4897453" y="622707"/>
                </a:lnTo>
                <a:lnTo>
                  <a:pt x="4877282" y="778383"/>
                </a:lnTo>
                <a:lnTo>
                  <a:pt x="4858456" y="934746"/>
                </a:lnTo>
                <a:lnTo>
                  <a:pt x="4842320" y="1089051"/>
                </a:lnTo>
                <a:lnTo>
                  <a:pt x="4827024" y="1245413"/>
                </a:lnTo>
                <a:lnTo>
                  <a:pt x="4813072" y="1401090"/>
                </a:lnTo>
                <a:lnTo>
                  <a:pt x="4800970" y="1554023"/>
                </a:lnTo>
                <a:lnTo>
                  <a:pt x="4788867" y="1709014"/>
                </a:lnTo>
                <a:lnTo>
                  <a:pt x="4778782" y="1861947"/>
                </a:lnTo>
                <a:lnTo>
                  <a:pt x="4770882" y="2014881"/>
                </a:lnTo>
                <a:lnTo>
                  <a:pt x="4762645" y="2167128"/>
                </a:lnTo>
                <a:lnTo>
                  <a:pt x="4755754" y="2318004"/>
                </a:lnTo>
                <a:lnTo>
                  <a:pt x="4750879" y="2467509"/>
                </a:lnTo>
                <a:lnTo>
                  <a:pt x="4746677" y="2617013"/>
                </a:lnTo>
                <a:lnTo>
                  <a:pt x="4742643" y="2765146"/>
                </a:lnTo>
                <a:lnTo>
                  <a:pt x="4740794" y="2911221"/>
                </a:lnTo>
                <a:lnTo>
                  <a:pt x="4738777" y="3057297"/>
                </a:lnTo>
                <a:lnTo>
                  <a:pt x="4737768" y="3201315"/>
                </a:lnTo>
                <a:lnTo>
                  <a:pt x="4738777" y="3343961"/>
                </a:lnTo>
                <a:lnTo>
                  <a:pt x="4738777" y="3485236"/>
                </a:lnTo>
                <a:lnTo>
                  <a:pt x="4740794" y="3625139"/>
                </a:lnTo>
                <a:lnTo>
                  <a:pt x="4743819" y="3762299"/>
                </a:lnTo>
                <a:lnTo>
                  <a:pt x="4746677" y="3898087"/>
                </a:lnTo>
                <a:lnTo>
                  <a:pt x="4749871" y="4031133"/>
                </a:lnTo>
                <a:lnTo>
                  <a:pt x="4754745" y="4163492"/>
                </a:lnTo>
                <a:lnTo>
                  <a:pt x="4759956" y="4293793"/>
                </a:lnTo>
                <a:lnTo>
                  <a:pt x="4764662" y="4421352"/>
                </a:lnTo>
                <a:lnTo>
                  <a:pt x="4777942" y="4670298"/>
                </a:lnTo>
                <a:lnTo>
                  <a:pt x="4792061" y="4908956"/>
                </a:lnTo>
                <a:lnTo>
                  <a:pt x="4806853" y="5138013"/>
                </a:lnTo>
                <a:lnTo>
                  <a:pt x="4823158" y="5354726"/>
                </a:lnTo>
                <a:lnTo>
                  <a:pt x="4840135" y="5561838"/>
                </a:lnTo>
                <a:lnTo>
                  <a:pt x="4858456" y="5753862"/>
                </a:lnTo>
                <a:lnTo>
                  <a:pt x="4876442" y="5934227"/>
                </a:lnTo>
                <a:lnTo>
                  <a:pt x="4894427" y="6100191"/>
                </a:lnTo>
                <a:lnTo>
                  <a:pt x="4911404" y="6252438"/>
                </a:lnTo>
                <a:lnTo>
                  <a:pt x="4927541" y="6387541"/>
                </a:lnTo>
                <a:lnTo>
                  <a:pt x="4942837" y="6509613"/>
                </a:lnTo>
                <a:lnTo>
                  <a:pt x="4955612" y="6612483"/>
                </a:lnTo>
                <a:lnTo>
                  <a:pt x="4967714" y="6698894"/>
                </a:lnTo>
                <a:lnTo>
                  <a:pt x="4985028" y="6817538"/>
                </a:lnTo>
                <a:lnTo>
                  <a:pt x="4990911" y="6858000"/>
                </a:lnTo>
                <a:lnTo>
                  <a:pt x="4085557" y="6858000"/>
                </a:lnTo>
                <a:lnTo>
                  <a:pt x="4085557" y="6858001"/>
                </a:lnTo>
                <a:lnTo>
                  <a:pt x="0" y="6858001"/>
                </a:lnTo>
                <a:lnTo>
                  <a:pt x="0" y="1"/>
                </a:lnTo>
                <a:lnTo>
                  <a:pt x="3646196" y="1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BA768A8-4FED-4ED8-9E46-6BE72188EC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3143" y="1645920"/>
            <a:ext cx="3522879" cy="4470821"/>
          </a:xfrm>
        </p:spPr>
        <p:txBody>
          <a:bodyPr>
            <a:normAutofit/>
          </a:bodyPr>
          <a:lstStyle/>
          <a:p>
            <a:pPr algn="r">
              <a:defRPr b="1">
                <a:solidFill>
                  <a:srgbClr val="0F172A"/>
                </a:solidFill>
              </a:defRPr>
            </a:pPr>
            <a:r>
              <a:rPr lang="en-US">
                <a:solidFill>
                  <a:srgbClr val="FFFFFF"/>
                </a:solidFill>
              </a:rPr>
              <a:t>Algorithm 1: Breadth-First Search (BFS)</a:t>
            </a:r>
          </a:p>
        </p:txBody>
      </p:sp>
      <p:sp>
        <p:nvSpPr>
          <p:cNvPr id="21" name="Content Placeholder 2"/>
          <p:cNvSpPr>
            <a:spLocks noGrp="1"/>
          </p:cNvSpPr>
          <p:nvPr>
            <p:ph idx="1"/>
          </p:nvPr>
        </p:nvSpPr>
        <p:spPr>
          <a:xfrm>
            <a:off x="5204109" y="1280160"/>
            <a:ext cx="5919503" cy="483658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  <a:defRPr sz="2000"/>
            </a:pPr>
            <a:r>
              <a:rPr lang="en-US" sz="1400" b="1" dirty="0"/>
              <a:t>Concept: Explores the search space level by level (like ripples in water).</a:t>
            </a:r>
          </a:p>
          <a:p>
            <a:pPr>
              <a:lnSpc>
                <a:spcPct val="90000"/>
              </a:lnSpc>
              <a:spcAft>
                <a:spcPts val="1000"/>
              </a:spcAft>
              <a:defRPr sz="2000"/>
            </a:pPr>
            <a:r>
              <a:rPr lang="en-US" sz="1400" b="1" dirty="0"/>
              <a:t>Mechanism:</a:t>
            </a:r>
          </a:p>
          <a:p>
            <a:pPr lvl="1">
              <a:lnSpc>
                <a:spcPct val="90000"/>
              </a:lnSpc>
              <a:spcAft>
                <a:spcPts val="1000"/>
              </a:spcAft>
              <a:defRPr sz="2000"/>
            </a:pPr>
            <a:r>
              <a:rPr lang="en-US" sz="1400" b="1" dirty="0"/>
              <a:t>- Starts at the root node.</a:t>
            </a:r>
          </a:p>
          <a:p>
            <a:pPr lvl="1">
              <a:lnSpc>
                <a:spcPct val="90000"/>
              </a:lnSpc>
              <a:spcAft>
                <a:spcPts val="1000"/>
              </a:spcAft>
              <a:defRPr sz="2000"/>
            </a:pPr>
            <a:r>
              <a:rPr lang="en-US" sz="1400" b="1" dirty="0"/>
              <a:t>- Visits all neighbors at depth 'd' before moving to depth 'd+1'.</a:t>
            </a:r>
          </a:p>
          <a:p>
            <a:pPr lvl="1">
              <a:lnSpc>
                <a:spcPct val="90000"/>
              </a:lnSpc>
              <a:spcAft>
                <a:spcPts val="1000"/>
              </a:spcAft>
              <a:defRPr sz="2000"/>
            </a:pPr>
            <a:r>
              <a:rPr lang="en-US" sz="1400" b="1" dirty="0"/>
              <a:t>- Uses a FIFO Queue (First-In, First-Out).</a:t>
            </a:r>
          </a:p>
          <a:p>
            <a:pPr>
              <a:lnSpc>
                <a:spcPct val="90000"/>
              </a:lnSpc>
              <a:spcAft>
                <a:spcPts val="1000"/>
              </a:spcAft>
              <a:defRPr sz="2000"/>
            </a:pPr>
            <a:r>
              <a:rPr lang="en-US" sz="1400" b="1" dirty="0"/>
              <a:t>Complexity:</a:t>
            </a:r>
          </a:p>
          <a:p>
            <a:pPr lvl="1">
              <a:lnSpc>
                <a:spcPct val="90000"/>
              </a:lnSpc>
              <a:spcAft>
                <a:spcPts val="1000"/>
              </a:spcAft>
              <a:defRPr sz="2000"/>
            </a:pPr>
            <a:r>
              <a:rPr lang="en-US" sz="1400" b="1" dirty="0"/>
              <a:t>- Time: O(</a:t>
            </a:r>
            <a:r>
              <a:rPr lang="en-US" sz="1400" b="1" dirty="0" err="1"/>
              <a:t>b^d</a:t>
            </a:r>
            <a:r>
              <a:rPr lang="en-US" sz="1400" b="1" dirty="0"/>
              <a:t>) (Exponential).</a:t>
            </a:r>
          </a:p>
          <a:p>
            <a:pPr lvl="1">
              <a:lnSpc>
                <a:spcPct val="90000"/>
              </a:lnSpc>
              <a:spcAft>
                <a:spcPts val="1000"/>
              </a:spcAft>
              <a:defRPr sz="2000"/>
            </a:pPr>
            <a:r>
              <a:rPr lang="en-US" sz="1400" b="1" dirty="0"/>
              <a:t>- Space: O(</a:t>
            </a:r>
            <a:r>
              <a:rPr lang="en-US" sz="1400" b="1" dirty="0" err="1"/>
              <a:t>b^d</a:t>
            </a:r>
            <a:r>
              <a:rPr lang="en-US" sz="1400" b="1" dirty="0"/>
              <a:t>) (High memory usage).</a:t>
            </a:r>
          </a:p>
          <a:p>
            <a:pPr>
              <a:lnSpc>
                <a:spcPct val="90000"/>
              </a:lnSpc>
              <a:spcAft>
                <a:spcPts val="1000"/>
              </a:spcAft>
              <a:defRPr sz="2000"/>
            </a:pPr>
            <a:r>
              <a:rPr lang="en-US" sz="1400" b="1" dirty="0"/>
              <a:t>Pros: Guarantees the Shortest Path (Optimal).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52BEFF1-896C-45B1-B02C-96A6A1BC38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36">
            <a:extLst>
              <a:ext uri="{FF2B5EF4-FFF2-40B4-BE49-F238E27FC236}">
                <a16:creationId xmlns:a16="http://schemas.microsoft.com/office/drawing/2014/main" id="{BB237A14-61B1-4C00-A670-5D8D68A866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44637" y="0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8F259-6F54-47A3-8D13-1603D786A3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990911" cy="6858001"/>
          </a:xfrm>
          <a:custGeom>
            <a:avLst/>
            <a:gdLst>
              <a:gd name="connsiteX0" fmla="*/ 3646196 w 4990911"/>
              <a:gd name="connsiteY0" fmla="*/ 0 h 6858001"/>
              <a:gd name="connsiteX1" fmla="*/ 4989734 w 4990911"/>
              <a:gd name="connsiteY1" fmla="*/ 0 h 6858001"/>
              <a:gd name="connsiteX2" fmla="*/ 4964689 w 4990911"/>
              <a:gd name="connsiteY2" fmla="*/ 155677 h 6858001"/>
              <a:gd name="connsiteX3" fmla="*/ 4940820 w 4990911"/>
              <a:gd name="connsiteY3" fmla="*/ 310668 h 6858001"/>
              <a:gd name="connsiteX4" fmla="*/ 4917456 w 4990911"/>
              <a:gd name="connsiteY4" fmla="*/ 466344 h 6858001"/>
              <a:gd name="connsiteX5" fmla="*/ 4897453 w 4990911"/>
              <a:gd name="connsiteY5" fmla="*/ 622707 h 6858001"/>
              <a:gd name="connsiteX6" fmla="*/ 4877282 w 4990911"/>
              <a:gd name="connsiteY6" fmla="*/ 778383 h 6858001"/>
              <a:gd name="connsiteX7" fmla="*/ 4858456 w 4990911"/>
              <a:gd name="connsiteY7" fmla="*/ 934746 h 6858001"/>
              <a:gd name="connsiteX8" fmla="*/ 4842320 w 4990911"/>
              <a:gd name="connsiteY8" fmla="*/ 1089051 h 6858001"/>
              <a:gd name="connsiteX9" fmla="*/ 4827024 w 4990911"/>
              <a:gd name="connsiteY9" fmla="*/ 1245413 h 6858001"/>
              <a:gd name="connsiteX10" fmla="*/ 4813072 w 4990911"/>
              <a:gd name="connsiteY10" fmla="*/ 1401090 h 6858001"/>
              <a:gd name="connsiteX11" fmla="*/ 4800970 w 4990911"/>
              <a:gd name="connsiteY11" fmla="*/ 1554023 h 6858001"/>
              <a:gd name="connsiteX12" fmla="*/ 4788867 w 4990911"/>
              <a:gd name="connsiteY12" fmla="*/ 1709014 h 6858001"/>
              <a:gd name="connsiteX13" fmla="*/ 4778782 w 4990911"/>
              <a:gd name="connsiteY13" fmla="*/ 1861947 h 6858001"/>
              <a:gd name="connsiteX14" fmla="*/ 4770882 w 4990911"/>
              <a:gd name="connsiteY14" fmla="*/ 2014881 h 6858001"/>
              <a:gd name="connsiteX15" fmla="*/ 4762645 w 4990911"/>
              <a:gd name="connsiteY15" fmla="*/ 2167128 h 6858001"/>
              <a:gd name="connsiteX16" fmla="*/ 4755754 w 4990911"/>
              <a:gd name="connsiteY16" fmla="*/ 2318004 h 6858001"/>
              <a:gd name="connsiteX17" fmla="*/ 4750879 w 4990911"/>
              <a:gd name="connsiteY17" fmla="*/ 2467509 h 6858001"/>
              <a:gd name="connsiteX18" fmla="*/ 4746677 w 4990911"/>
              <a:gd name="connsiteY18" fmla="*/ 2617013 h 6858001"/>
              <a:gd name="connsiteX19" fmla="*/ 4742643 w 4990911"/>
              <a:gd name="connsiteY19" fmla="*/ 2765146 h 6858001"/>
              <a:gd name="connsiteX20" fmla="*/ 4740794 w 4990911"/>
              <a:gd name="connsiteY20" fmla="*/ 2911221 h 6858001"/>
              <a:gd name="connsiteX21" fmla="*/ 4738777 w 4990911"/>
              <a:gd name="connsiteY21" fmla="*/ 3057297 h 6858001"/>
              <a:gd name="connsiteX22" fmla="*/ 4737768 w 4990911"/>
              <a:gd name="connsiteY22" fmla="*/ 3201315 h 6858001"/>
              <a:gd name="connsiteX23" fmla="*/ 4738777 w 4990911"/>
              <a:gd name="connsiteY23" fmla="*/ 3343961 h 6858001"/>
              <a:gd name="connsiteX24" fmla="*/ 4738777 w 4990911"/>
              <a:gd name="connsiteY24" fmla="*/ 3485236 h 6858001"/>
              <a:gd name="connsiteX25" fmla="*/ 4740794 w 4990911"/>
              <a:gd name="connsiteY25" fmla="*/ 3625139 h 6858001"/>
              <a:gd name="connsiteX26" fmla="*/ 4743819 w 4990911"/>
              <a:gd name="connsiteY26" fmla="*/ 3762299 h 6858001"/>
              <a:gd name="connsiteX27" fmla="*/ 4746677 w 4990911"/>
              <a:gd name="connsiteY27" fmla="*/ 3898087 h 6858001"/>
              <a:gd name="connsiteX28" fmla="*/ 4749871 w 4990911"/>
              <a:gd name="connsiteY28" fmla="*/ 4031133 h 6858001"/>
              <a:gd name="connsiteX29" fmla="*/ 4754745 w 4990911"/>
              <a:gd name="connsiteY29" fmla="*/ 4163492 h 6858001"/>
              <a:gd name="connsiteX30" fmla="*/ 4759956 w 4990911"/>
              <a:gd name="connsiteY30" fmla="*/ 4293793 h 6858001"/>
              <a:gd name="connsiteX31" fmla="*/ 4764662 w 4990911"/>
              <a:gd name="connsiteY31" fmla="*/ 4421352 h 6858001"/>
              <a:gd name="connsiteX32" fmla="*/ 4777942 w 4990911"/>
              <a:gd name="connsiteY32" fmla="*/ 4670298 h 6858001"/>
              <a:gd name="connsiteX33" fmla="*/ 4792061 w 4990911"/>
              <a:gd name="connsiteY33" fmla="*/ 4908956 h 6858001"/>
              <a:gd name="connsiteX34" fmla="*/ 4806853 w 4990911"/>
              <a:gd name="connsiteY34" fmla="*/ 5138013 h 6858001"/>
              <a:gd name="connsiteX35" fmla="*/ 4823158 w 4990911"/>
              <a:gd name="connsiteY35" fmla="*/ 5354726 h 6858001"/>
              <a:gd name="connsiteX36" fmla="*/ 4840135 w 4990911"/>
              <a:gd name="connsiteY36" fmla="*/ 5561838 h 6858001"/>
              <a:gd name="connsiteX37" fmla="*/ 4858456 w 4990911"/>
              <a:gd name="connsiteY37" fmla="*/ 5753862 h 6858001"/>
              <a:gd name="connsiteX38" fmla="*/ 4876442 w 4990911"/>
              <a:gd name="connsiteY38" fmla="*/ 5934227 h 6858001"/>
              <a:gd name="connsiteX39" fmla="*/ 4894427 w 4990911"/>
              <a:gd name="connsiteY39" fmla="*/ 6100191 h 6858001"/>
              <a:gd name="connsiteX40" fmla="*/ 4911404 w 4990911"/>
              <a:gd name="connsiteY40" fmla="*/ 6252438 h 6858001"/>
              <a:gd name="connsiteX41" fmla="*/ 4927541 w 4990911"/>
              <a:gd name="connsiteY41" fmla="*/ 6387541 h 6858001"/>
              <a:gd name="connsiteX42" fmla="*/ 4942837 w 4990911"/>
              <a:gd name="connsiteY42" fmla="*/ 6509613 h 6858001"/>
              <a:gd name="connsiteX43" fmla="*/ 4955612 w 4990911"/>
              <a:gd name="connsiteY43" fmla="*/ 6612483 h 6858001"/>
              <a:gd name="connsiteX44" fmla="*/ 4967714 w 4990911"/>
              <a:gd name="connsiteY44" fmla="*/ 6698894 h 6858001"/>
              <a:gd name="connsiteX45" fmla="*/ 4985028 w 4990911"/>
              <a:gd name="connsiteY45" fmla="*/ 6817538 h 6858001"/>
              <a:gd name="connsiteX46" fmla="*/ 4990911 w 4990911"/>
              <a:gd name="connsiteY46" fmla="*/ 6858000 h 6858001"/>
              <a:gd name="connsiteX47" fmla="*/ 4085557 w 4990911"/>
              <a:gd name="connsiteY47" fmla="*/ 6858000 h 6858001"/>
              <a:gd name="connsiteX48" fmla="*/ 4085557 w 4990911"/>
              <a:gd name="connsiteY48" fmla="*/ 6858001 h 6858001"/>
              <a:gd name="connsiteX49" fmla="*/ 0 w 4990911"/>
              <a:gd name="connsiteY49" fmla="*/ 6858001 h 6858001"/>
              <a:gd name="connsiteX50" fmla="*/ 0 w 4990911"/>
              <a:gd name="connsiteY50" fmla="*/ 1 h 6858001"/>
              <a:gd name="connsiteX51" fmla="*/ 3646196 w 4990911"/>
              <a:gd name="connsiteY51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990911" h="6858001">
                <a:moveTo>
                  <a:pt x="3646196" y="0"/>
                </a:moveTo>
                <a:lnTo>
                  <a:pt x="4989734" y="0"/>
                </a:lnTo>
                <a:lnTo>
                  <a:pt x="4964689" y="155677"/>
                </a:lnTo>
                <a:lnTo>
                  <a:pt x="4940820" y="310668"/>
                </a:lnTo>
                <a:lnTo>
                  <a:pt x="4917456" y="466344"/>
                </a:lnTo>
                <a:lnTo>
                  <a:pt x="4897453" y="622707"/>
                </a:lnTo>
                <a:lnTo>
                  <a:pt x="4877282" y="778383"/>
                </a:lnTo>
                <a:lnTo>
                  <a:pt x="4858456" y="934746"/>
                </a:lnTo>
                <a:lnTo>
                  <a:pt x="4842320" y="1089051"/>
                </a:lnTo>
                <a:lnTo>
                  <a:pt x="4827024" y="1245413"/>
                </a:lnTo>
                <a:lnTo>
                  <a:pt x="4813072" y="1401090"/>
                </a:lnTo>
                <a:lnTo>
                  <a:pt x="4800970" y="1554023"/>
                </a:lnTo>
                <a:lnTo>
                  <a:pt x="4788867" y="1709014"/>
                </a:lnTo>
                <a:lnTo>
                  <a:pt x="4778782" y="1861947"/>
                </a:lnTo>
                <a:lnTo>
                  <a:pt x="4770882" y="2014881"/>
                </a:lnTo>
                <a:lnTo>
                  <a:pt x="4762645" y="2167128"/>
                </a:lnTo>
                <a:lnTo>
                  <a:pt x="4755754" y="2318004"/>
                </a:lnTo>
                <a:lnTo>
                  <a:pt x="4750879" y="2467509"/>
                </a:lnTo>
                <a:lnTo>
                  <a:pt x="4746677" y="2617013"/>
                </a:lnTo>
                <a:lnTo>
                  <a:pt x="4742643" y="2765146"/>
                </a:lnTo>
                <a:lnTo>
                  <a:pt x="4740794" y="2911221"/>
                </a:lnTo>
                <a:lnTo>
                  <a:pt x="4738777" y="3057297"/>
                </a:lnTo>
                <a:lnTo>
                  <a:pt x="4737768" y="3201315"/>
                </a:lnTo>
                <a:lnTo>
                  <a:pt x="4738777" y="3343961"/>
                </a:lnTo>
                <a:lnTo>
                  <a:pt x="4738777" y="3485236"/>
                </a:lnTo>
                <a:lnTo>
                  <a:pt x="4740794" y="3625139"/>
                </a:lnTo>
                <a:lnTo>
                  <a:pt x="4743819" y="3762299"/>
                </a:lnTo>
                <a:lnTo>
                  <a:pt x="4746677" y="3898087"/>
                </a:lnTo>
                <a:lnTo>
                  <a:pt x="4749871" y="4031133"/>
                </a:lnTo>
                <a:lnTo>
                  <a:pt x="4754745" y="4163492"/>
                </a:lnTo>
                <a:lnTo>
                  <a:pt x="4759956" y="4293793"/>
                </a:lnTo>
                <a:lnTo>
                  <a:pt x="4764662" y="4421352"/>
                </a:lnTo>
                <a:lnTo>
                  <a:pt x="4777942" y="4670298"/>
                </a:lnTo>
                <a:lnTo>
                  <a:pt x="4792061" y="4908956"/>
                </a:lnTo>
                <a:lnTo>
                  <a:pt x="4806853" y="5138013"/>
                </a:lnTo>
                <a:lnTo>
                  <a:pt x="4823158" y="5354726"/>
                </a:lnTo>
                <a:lnTo>
                  <a:pt x="4840135" y="5561838"/>
                </a:lnTo>
                <a:lnTo>
                  <a:pt x="4858456" y="5753862"/>
                </a:lnTo>
                <a:lnTo>
                  <a:pt x="4876442" y="5934227"/>
                </a:lnTo>
                <a:lnTo>
                  <a:pt x="4894427" y="6100191"/>
                </a:lnTo>
                <a:lnTo>
                  <a:pt x="4911404" y="6252438"/>
                </a:lnTo>
                <a:lnTo>
                  <a:pt x="4927541" y="6387541"/>
                </a:lnTo>
                <a:lnTo>
                  <a:pt x="4942837" y="6509613"/>
                </a:lnTo>
                <a:lnTo>
                  <a:pt x="4955612" y="6612483"/>
                </a:lnTo>
                <a:lnTo>
                  <a:pt x="4967714" y="6698894"/>
                </a:lnTo>
                <a:lnTo>
                  <a:pt x="4985028" y="6817538"/>
                </a:lnTo>
                <a:lnTo>
                  <a:pt x="4990911" y="6858000"/>
                </a:lnTo>
                <a:lnTo>
                  <a:pt x="4085557" y="6858000"/>
                </a:lnTo>
                <a:lnTo>
                  <a:pt x="4085557" y="6858001"/>
                </a:lnTo>
                <a:lnTo>
                  <a:pt x="0" y="6858001"/>
                </a:lnTo>
                <a:lnTo>
                  <a:pt x="0" y="1"/>
                </a:lnTo>
                <a:lnTo>
                  <a:pt x="3646196" y="1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BA768A8-4FED-4ED8-9E46-6BE72188EC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3143" y="1645920"/>
            <a:ext cx="3522879" cy="4470821"/>
          </a:xfrm>
        </p:spPr>
        <p:txBody>
          <a:bodyPr>
            <a:normAutofit/>
          </a:bodyPr>
          <a:lstStyle/>
          <a:p>
            <a:pPr algn="r">
              <a:defRPr b="1">
                <a:solidFill>
                  <a:srgbClr val="0F172A"/>
                </a:solidFill>
              </a:defRPr>
            </a:pPr>
            <a:r>
              <a:rPr lang="en-US">
                <a:solidFill>
                  <a:srgbClr val="FFFFFF"/>
                </a:solidFill>
              </a:rPr>
              <a:t>Algorithm 2: Depth-First Search (DFS)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04109" y="1503680"/>
            <a:ext cx="5919503" cy="461306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  <a:defRPr sz="2000"/>
            </a:pPr>
            <a:r>
              <a:rPr lang="en-US" sz="1600" b="1" dirty="0"/>
              <a:t>Concept: Explores as deep as possible along each branch before backtracking.</a:t>
            </a:r>
          </a:p>
          <a:p>
            <a:pPr>
              <a:lnSpc>
                <a:spcPct val="90000"/>
              </a:lnSpc>
              <a:spcAft>
                <a:spcPts val="1000"/>
              </a:spcAft>
              <a:defRPr sz="2000"/>
            </a:pPr>
            <a:r>
              <a:rPr lang="en-US" sz="1600" b="1" dirty="0"/>
              <a:t>Mechanism:</a:t>
            </a:r>
          </a:p>
          <a:p>
            <a:pPr lvl="1">
              <a:lnSpc>
                <a:spcPct val="90000"/>
              </a:lnSpc>
              <a:spcAft>
                <a:spcPts val="1000"/>
              </a:spcAft>
              <a:defRPr sz="2000"/>
            </a:pPr>
            <a:r>
              <a:rPr lang="en-US" sz="1600" b="1" dirty="0"/>
              <a:t>- Follows a single path until it hits a dead end.</a:t>
            </a:r>
          </a:p>
          <a:p>
            <a:pPr lvl="1">
              <a:lnSpc>
                <a:spcPct val="90000"/>
              </a:lnSpc>
              <a:spcAft>
                <a:spcPts val="1000"/>
              </a:spcAft>
              <a:defRPr sz="2000"/>
            </a:pPr>
            <a:r>
              <a:rPr lang="en-US" sz="1600" b="1" dirty="0"/>
              <a:t>- Backtracks to the last junction to try a new path.</a:t>
            </a:r>
          </a:p>
          <a:p>
            <a:pPr lvl="1">
              <a:lnSpc>
                <a:spcPct val="90000"/>
              </a:lnSpc>
              <a:spcAft>
                <a:spcPts val="1000"/>
              </a:spcAft>
              <a:defRPr sz="2000"/>
            </a:pPr>
            <a:r>
              <a:rPr lang="en-US" sz="1600" b="1" dirty="0"/>
              <a:t>- Uses a LIFO Stack (Last-In, First-Out).</a:t>
            </a:r>
          </a:p>
          <a:p>
            <a:pPr>
              <a:lnSpc>
                <a:spcPct val="90000"/>
              </a:lnSpc>
              <a:spcAft>
                <a:spcPts val="1000"/>
              </a:spcAft>
              <a:defRPr sz="2000"/>
            </a:pPr>
            <a:r>
              <a:rPr lang="en-US" sz="1600" b="1" dirty="0"/>
              <a:t>Complexity:</a:t>
            </a:r>
          </a:p>
          <a:p>
            <a:pPr lvl="1">
              <a:lnSpc>
                <a:spcPct val="90000"/>
              </a:lnSpc>
              <a:spcAft>
                <a:spcPts val="1000"/>
              </a:spcAft>
              <a:defRPr sz="2000"/>
            </a:pPr>
            <a:r>
              <a:rPr lang="en-US" sz="1600" b="1" dirty="0"/>
              <a:t>- Time: O(</a:t>
            </a:r>
            <a:r>
              <a:rPr lang="en-US" sz="1600" b="1" dirty="0" err="1"/>
              <a:t>b^m</a:t>
            </a:r>
            <a:r>
              <a:rPr lang="en-US" sz="1600" b="1" dirty="0"/>
              <a:t>) (Can get stuck in deep loops).</a:t>
            </a:r>
          </a:p>
          <a:p>
            <a:pPr lvl="1">
              <a:lnSpc>
                <a:spcPct val="90000"/>
              </a:lnSpc>
              <a:spcAft>
                <a:spcPts val="1000"/>
              </a:spcAft>
              <a:defRPr sz="2000"/>
            </a:pPr>
            <a:r>
              <a:rPr lang="en-US" sz="1600" b="1" dirty="0"/>
              <a:t>- Space: O(bm) (Linear - Very Efficient).</a:t>
            </a:r>
          </a:p>
          <a:p>
            <a:pPr>
              <a:lnSpc>
                <a:spcPct val="90000"/>
              </a:lnSpc>
              <a:spcAft>
                <a:spcPts val="1000"/>
              </a:spcAft>
              <a:defRPr sz="2000"/>
            </a:pPr>
            <a:r>
              <a:rPr lang="en-US" sz="1600" b="1" dirty="0"/>
              <a:t>Cons: Not Optimal (often returns long, winding paths)</a:t>
            </a:r>
            <a:r>
              <a:rPr lang="en-US" sz="1600" dirty="0"/>
              <a:t>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52BEFF1-896C-45B1-B02C-96A6A1BC38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36">
            <a:extLst>
              <a:ext uri="{FF2B5EF4-FFF2-40B4-BE49-F238E27FC236}">
                <a16:creationId xmlns:a16="http://schemas.microsoft.com/office/drawing/2014/main" id="{BB237A14-61B1-4C00-A670-5D8D68A866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44637" y="0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8F259-6F54-47A3-8D13-1603D786A3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990911" cy="6858001"/>
          </a:xfrm>
          <a:custGeom>
            <a:avLst/>
            <a:gdLst>
              <a:gd name="connsiteX0" fmla="*/ 3646196 w 4990911"/>
              <a:gd name="connsiteY0" fmla="*/ 0 h 6858001"/>
              <a:gd name="connsiteX1" fmla="*/ 4989734 w 4990911"/>
              <a:gd name="connsiteY1" fmla="*/ 0 h 6858001"/>
              <a:gd name="connsiteX2" fmla="*/ 4964689 w 4990911"/>
              <a:gd name="connsiteY2" fmla="*/ 155677 h 6858001"/>
              <a:gd name="connsiteX3" fmla="*/ 4940820 w 4990911"/>
              <a:gd name="connsiteY3" fmla="*/ 310668 h 6858001"/>
              <a:gd name="connsiteX4" fmla="*/ 4917456 w 4990911"/>
              <a:gd name="connsiteY4" fmla="*/ 466344 h 6858001"/>
              <a:gd name="connsiteX5" fmla="*/ 4897453 w 4990911"/>
              <a:gd name="connsiteY5" fmla="*/ 622707 h 6858001"/>
              <a:gd name="connsiteX6" fmla="*/ 4877282 w 4990911"/>
              <a:gd name="connsiteY6" fmla="*/ 778383 h 6858001"/>
              <a:gd name="connsiteX7" fmla="*/ 4858456 w 4990911"/>
              <a:gd name="connsiteY7" fmla="*/ 934746 h 6858001"/>
              <a:gd name="connsiteX8" fmla="*/ 4842320 w 4990911"/>
              <a:gd name="connsiteY8" fmla="*/ 1089051 h 6858001"/>
              <a:gd name="connsiteX9" fmla="*/ 4827024 w 4990911"/>
              <a:gd name="connsiteY9" fmla="*/ 1245413 h 6858001"/>
              <a:gd name="connsiteX10" fmla="*/ 4813072 w 4990911"/>
              <a:gd name="connsiteY10" fmla="*/ 1401090 h 6858001"/>
              <a:gd name="connsiteX11" fmla="*/ 4800970 w 4990911"/>
              <a:gd name="connsiteY11" fmla="*/ 1554023 h 6858001"/>
              <a:gd name="connsiteX12" fmla="*/ 4788867 w 4990911"/>
              <a:gd name="connsiteY12" fmla="*/ 1709014 h 6858001"/>
              <a:gd name="connsiteX13" fmla="*/ 4778782 w 4990911"/>
              <a:gd name="connsiteY13" fmla="*/ 1861947 h 6858001"/>
              <a:gd name="connsiteX14" fmla="*/ 4770882 w 4990911"/>
              <a:gd name="connsiteY14" fmla="*/ 2014881 h 6858001"/>
              <a:gd name="connsiteX15" fmla="*/ 4762645 w 4990911"/>
              <a:gd name="connsiteY15" fmla="*/ 2167128 h 6858001"/>
              <a:gd name="connsiteX16" fmla="*/ 4755754 w 4990911"/>
              <a:gd name="connsiteY16" fmla="*/ 2318004 h 6858001"/>
              <a:gd name="connsiteX17" fmla="*/ 4750879 w 4990911"/>
              <a:gd name="connsiteY17" fmla="*/ 2467509 h 6858001"/>
              <a:gd name="connsiteX18" fmla="*/ 4746677 w 4990911"/>
              <a:gd name="connsiteY18" fmla="*/ 2617013 h 6858001"/>
              <a:gd name="connsiteX19" fmla="*/ 4742643 w 4990911"/>
              <a:gd name="connsiteY19" fmla="*/ 2765146 h 6858001"/>
              <a:gd name="connsiteX20" fmla="*/ 4740794 w 4990911"/>
              <a:gd name="connsiteY20" fmla="*/ 2911221 h 6858001"/>
              <a:gd name="connsiteX21" fmla="*/ 4738777 w 4990911"/>
              <a:gd name="connsiteY21" fmla="*/ 3057297 h 6858001"/>
              <a:gd name="connsiteX22" fmla="*/ 4737768 w 4990911"/>
              <a:gd name="connsiteY22" fmla="*/ 3201315 h 6858001"/>
              <a:gd name="connsiteX23" fmla="*/ 4738777 w 4990911"/>
              <a:gd name="connsiteY23" fmla="*/ 3343961 h 6858001"/>
              <a:gd name="connsiteX24" fmla="*/ 4738777 w 4990911"/>
              <a:gd name="connsiteY24" fmla="*/ 3485236 h 6858001"/>
              <a:gd name="connsiteX25" fmla="*/ 4740794 w 4990911"/>
              <a:gd name="connsiteY25" fmla="*/ 3625139 h 6858001"/>
              <a:gd name="connsiteX26" fmla="*/ 4743819 w 4990911"/>
              <a:gd name="connsiteY26" fmla="*/ 3762299 h 6858001"/>
              <a:gd name="connsiteX27" fmla="*/ 4746677 w 4990911"/>
              <a:gd name="connsiteY27" fmla="*/ 3898087 h 6858001"/>
              <a:gd name="connsiteX28" fmla="*/ 4749871 w 4990911"/>
              <a:gd name="connsiteY28" fmla="*/ 4031133 h 6858001"/>
              <a:gd name="connsiteX29" fmla="*/ 4754745 w 4990911"/>
              <a:gd name="connsiteY29" fmla="*/ 4163492 h 6858001"/>
              <a:gd name="connsiteX30" fmla="*/ 4759956 w 4990911"/>
              <a:gd name="connsiteY30" fmla="*/ 4293793 h 6858001"/>
              <a:gd name="connsiteX31" fmla="*/ 4764662 w 4990911"/>
              <a:gd name="connsiteY31" fmla="*/ 4421352 h 6858001"/>
              <a:gd name="connsiteX32" fmla="*/ 4777942 w 4990911"/>
              <a:gd name="connsiteY32" fmla="*/ 4670298 h 6858001"/>
              <a:gd name="connsiteX33" fmla="*/ 4792061 w 4990911"/>
              <a:gd name="connsiteY33" fmla="*/ 4908956 h 6858001"/>
              <a:gd name="connsiteX34" fmla="*/ 4806853 w 4990911"/>
              <a:gd name="connsiteY34" fmla="*/ 5138013 h 6858001"/>
              <a:gd name="connsiteX35" fmla="*/ 4823158 w 4990911"/>
              <a:gd name="connsiteY35" fmla="*/ 5354726 h 6858001"/>
              <a:gd name="connsiteX36" fmla="*/ 4840135 w 4990911"/>
              <a:gd name="connsiteY36" fmla="*/ 5561838 h 6858001"/>
              <a:gd name="connsiteX37" fmla="*/ 4858456 w 4990911"/>
              <a:gd name="connsiteY37" fmla="*/ 5753862 h 6858001"/>
              <a:gd name="connsiteX38" fmla="*/ 4876442 w 4990911"/>
              <a:gd name="connsiteY38" fmla="*/ 5934227 h 6858001"/>
              <a:gd name="connsiteX39" fmla="*/ 4894427 w 4990911"/>
              <a:gd name="connsiteY39" fmla="*/ 6100191 h 6858001"/>
              <a:gd name="connsiteX40" fmla="*/ 4911404 w 4990911"/>
              <a:gd name="connsiteY40" fmla="*/ 6252438 h 6858001"/>
              <a:gd name="connsiteX41" fmla="*/ 4927541 w 4990911"/>
              <a:gd name="connsiteY41" fmla="*/ 6387541 h 6858001"/>
              <a:gd name="connsiteX42" fmla="*/ 4942837 w 4990911"/>
              <a:gd name="connsiteY42" fmla="*/ 6509613 h 6858001"/>
              <a:gd name="connsiteX43" fmla="*/ 4955612 w 4990911"/>
              <a:gd name="connsiteY43" fmla="*/ 6612483 h 6858001"/>
              <a:gd name="connsiteX44" fmla="*/ 4967714 w 4990911"/>
              <a:gd name="connsiteY44" fmla="*/ 6698894 h 6858001"/>
              <a:gd name="connsiteX45" fmla="*/ 4985028 w 4990911"/>
              <a:gd name="connsiteY45" fmla="*/ 6817538 h 6858001"/>
              <a:gd name="connsiteX46" fmla="*/ 4990911 w 4990911"/>
              <a:gd name="connsiteY46" fmla="*/ 6858000 h 6858001"/>
              <a:gd name="connsiteX47" fmla="*/ 4085557 w 4990911"/>
              <a:gd name="connsiteY47" fmla="*/ 6858000 h 6858001"/>
              <a:gd name="connsiteX48" fmla="*/ 4085557 w 4990911"/>
              <a:gd name="connsiteY48" fmla="*/ 6858001 h 6858001"/>
              <a:gd name="connsiteX49" fmla="*/ 0 w 4990911"/>
              <a:gd name="connsiteY49" fmla="*/ 6858001 h 6858001"/>
              <a:gd name="connsiteX50" fmla="*/ 0 w 4990911"/>
              <a:gd name="connsiteY50" fmla="*/ 1 h 6858001"/>
              <a:gd name="connsiteX51" fmla="*/ 3646196 w 4990911"/>
              <a:gd name="connsiteY51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990911" h="6858001">
                <a:moveTo>
                  <a:pt x="3646196" y="0"/>
                </a:moveTo>
                <a:lnTo>
                  <a:pt x="4989734" y="0"/>
                </a:lnTo>
                <a:lnTo>
                  <a:pt x="4964689" y="155677"/>
                </a:lnTo>
                <a:lnTo>
                  <a:pt x="4940820" y="310668"/>
                </a:lnTo>
                <a:lnTo>
                  <a:pt x="4917456" y="466344"/>
                </a:lnTo>
                <a:lnTo>
                  <a:pt x="4897453" y="622707"/>
                </a:lnTo>
                <a:lnTo>
                  <a:pt x="4877282" y="778383"/>
                </a:lnTo>
                <a:lnTo>
                  <a:pt x="4858456" y="934746"/>
                </a:lnTo>
                <a:lnTo>
                  <a:pt x="4842320" y="1089051"/>
                </a:lnTo>
                <a:lnTo>
                  <a:pt x="4827024" y="1245413"/>
                </a:lnTo>
                <a:lnTo>
                  <a:pt x="4813072" y="1401090"/>
                </a:lnTo>
                <a:lnTo>
                  <a:pt x="4800970" y="1554023"/>
                </a:lnTo>
                <a:lnTo>
                  <a:pt x="4788867" y="1709014"/>
                </a:lnTo>
                <a:lnTo>
                  <a:pt x="4778782" y="1861947"/>
                </a:lnTo>
                <a:lnTo>
                  <a:pt x="4770882" y="2014881"/>
                </a:lnTo>
                <a:lnTo>
                  <a:pt x="4762645" y="2167128"/>
                </a:lnTo>
                <a:lnTo>
                  <a:pt x="4755754" y="2318004"/>
                </a:lnTo>
                <a:lnTo>
                  <a:pt x="4750879" y="2467509"/>
                </a:lnTo>
                <a:lnTo>
                  <a:pt x="4746677" y="2617013"/>
                </a:lnTo>
                <a:lnTo>
                  <a:pt x="4742643" y="2765146"/>
                </a:lnTo>
                <a:lnTo>
                  <a:pt x="4740794" y="2911221"/>
                </a:lnTo>
                <a:lnTo>
                  <a:pt x="4738777" y="3057297"/>
                </a:lnTo>
                <a:lnTo>
                  <a:pt x="4737768" y="3201315"/>
                </a:lnTo>
                <a:lnTo>
                  <a:pt x="4738777" y="3343961"/>
                </a:lnTo>
                <a:lnTo>
                  <a:pt x="4738777" y="3485236"/>
                </a:lnTo>
                <a:lnTo>
                  <a:pt x="4740794" y="3625139"/>
                </a:lnTo>
                <a:lnTo>
                  <a:pt x="4743819" y="3762299"/>
                </a:lnTo>
                <a:lnTo>
                  <a:pt x="4746677" y="3898087"/>
                </a:lnTo>
                <a:lnTo>
                  <a:pt x="4749871" y="4031133"/>
                </a:lnTo>
                <a:lnTo>
                  <a:pt x="4754745" y="4163492"/>
                </a:lnTo>
                <a:lnTo>
                  <a:pt x="4759956" y="4293793"/>
                </a:lnTo>
                <a:lnTo>
                  <a:pt x="4764662" y="4421352"/>
                </a:lnTo>
                <a:lnTo>
                  <a:pt x="4777942" y="4670298"/>
                </a:lnTo>
                <a:lnTo>
                  <a:pt x="4792061" y="4908956"/>
                </a:lnTo>
                <a:lnTo>
                  <a:pt x="4806853" y="5138013"/>
                </a:lnTo>
                <a:lnTo>
                  <a:pt x="4823158" y="5354726"/>
                </a:lnTo>
                <a:lnTo>
                  <a:pt x="4840135" y="5561838"/>
                </a:lnTo>
                <a:lnTo>
                  <a:pt x="4858456" y="5753862"/>
                </a:lnTo>
                <a:lnTo>
                  <a:pt x="4876442" y="5934227"/>
                </a:lnTo>
                <a:lnTo>
                  <a:pt x="4894427" y="6100191"/>
                </a:lnTo>
                <a:lnTo>
                  <a:pt x="4911404" y="6252438"/>
                </a:lnTo>
                <a:lnTo>
                  <a:pt x="4927541" y="6387541"/>
                </a:lnTo>
                <a:lnTo>
                  <a:pt x="4942837" y="6509613"/>
                </a:lnTo>
                <a:lnTo>
                  <a:pt x="4955612" y="6612483"/>
                </a:lnTo>
                <a:lnTo>
                  <a:pt x="4967714" y="6698894"/>
                </a:lnTo>
                <a:lnTo>
                  <a:pt x="4985028" y="6817538"/>
                </a:lnTo>
                <a:lnTo>
                  <a:pt x="4990911" y="6858000"/>
                </a:lnTo>
                <a:lnTo>
                  <a:pt x="4085557" y="6858000"/>
                </a:lnTo>
                <a:lnTo>
                  <a:pt x="4085557" y="6858001"/>
                </a:lnTo>
                <a:lnTo>
                  <a:pt x="0" y="6858001"/>
                </a:lnTo>
                <a:lnTo>
                  <a:pt x="0" y="1"/>
                </a:lnTo>
                <a:lnTo>
                  <a:pt x="3646196" y="1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BA768A8-4FED-4ED8-9E46-6BE72188EC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3143" y="1645920"/>
            <a:ext cx="3522879" cy="4470821"/>
          </a:xfrm>
        </p:spPr>
        <p:txBody>
          <a:bodyPr>
            <a:normAutofit/>
          </a:bodyPr>
          <a:lstStyle/>
          <a:p>
            <a:pPr algn="r">
              <a:defRPr b="1">
                <a:solidFill>
                  <a:srgbClr val="0F172A"/>
                </a:solidFill>
              </a:defRPr>
            </a:pPr>
            <a:r>
              <a:rPr lang="en-US">
                <a:solidFill>
                  <a:srgbClr val="FFFFFF"/>
                </a:solidFill>
              </a:rPr>
              <a:t>Algorithm 3: Uniform-Cost Search (UCS)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04109" y="1645920"/>
            <a:ext cx="5919503" cy="447082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  <a:defRPr sz="2000"/>
            </a:pPr>
            <a:r>
              <a:rPr lang="en-US" sz="1700" b="1" dirty="0"/>
              <a:t>Concept: Expands the node with the lowest cumulative path cost g(n).</a:t>
            </a:r>
          </a:p>
          <a:p>
            <a:pPr>
              <a:lnSpc>
                <a:spcPct val="90000"/>
              </a:lnSpc>
              <a:spcAft>
                <a:spcPts val="1000"/>
              </a:spcAft>
              <a:defRPr sz="2000"/>
            </a:pPr>
            <a:r>
              <a:rPr lang="en-US" sz="1700" b="1" dirty="0"/>
              <a:t>Mechanism:</a:t>
            </a:r>
          </a:p>
          <a:p>
            <a:pPr lvl="1">
              <a:lnSpc>
                <a:spcPct val="90000"/>
              </a:lnSpc>
              <a:spcAft>
                <a:spcPts val="1000"/>
              </a:spcAft>
              <a:defRPr sz="2000"/>
            </a:pPr>
            <a:r>
              <a:rPr lang="en-US" sz="1700" b="1" dirty="0"/>
              <a:t>- Prioritizes the 'cheapest' path found so far.</a:t>
            </a:r>
          </a:p>
          <a:p>
            <a:pPr lvl="1">
              <a:lnSpc>
                <a:spcPct val="90000"/>
              </a:lnSpc>
              <a:spcAft>
                <a:spcPts val="1000"/>
              </a:spcAft>
              <a:defRPr sz="2000"/>
            </a:pPr>
            <a:r>
              <a:rPr lang="en-US" sz="1700" b="1" dirty="0"/>
              <a:t>- Uses a Priority Queue ordered by path cost.</a:t>
            </a:r>
          </a:p>
          <a:p>
            <a:pPr>
              <a:lnSpc>
                <a:spcPct val="90000"/>
              </a:lnSpc>
              <a:spcAft>
                <a:spcPts val="1000"/>
              </a:spcAft>
              <a:defRPr sz="2000"/>
            </a:pPr>
            <a:r>
              <a:rPr lang="en-US" sz="1700" b="1" dirty="0"/>
              <a:t>Behavior:</a:t>
            </a:r>
          </a:p>
          <a:p>
            <a:pPr lvl="1">
              <a:lnSpc>
                <a:spcPct val="90000"/>
              </a:lnSpc>
              <a:spcAft>
                <a:spcPts val="1000"/>
              </a:spcAft>
              <a:defRPr sz="2000"/>
            </a:pPr>
            <a:r>
              <a:rPr lang="en-US" sz="1700" b="1" dirty="0"/>
              <a:t>- Since step cost is constant (1), UCS behaves identically to BFS.</a:t>
            </a:r>
          </a:p>
          <a:p>
            <a:pPr lvl="1">
              <a:lnSpc>
                <a:spcPct val="90000"/>
              </a:lnSpc>
              <a:spcAft>
                <a:spcPts val="1000"/>
              </a:spcAft>
              <a:defRPr sz="2000"/>
            </a:pPr>
            <a:r>
              <a:rPr lang="en-US" sz="1700" b="1" dirty="0"/>
              <a:t>- Designed to handle varying terrain costs (e.g., mud vs. road).</a:t>
            </a:r>
          </a:p>
          <a:p>
            <a:pPr>
              <a:lnSpc>
                <a:spcPct val="90000"/>
              </a:lnSpc>
              <a:spcAft>
                <a:spcPts val="1000"/>
              </a:spcAft>
              <a:defRPr sz="2000"/>
            </a:pPr>
            <a:r>
              <a:rPr lang="en-US" sz="1700" b="1" dirty="0"/>
              <a:t>Pros: Guarantees Optimality.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52BEFF1-896C-45B1-B02C-96A6A1BC38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36">
            <a:extLst>
              <a:ext uri="{FF2B5EF4-FFF2-40B4-BE49-F238E27FC236}">
                <a16:creationId xmlns:a16="http://schemas.microsoft.com/office/drawing/2014/main" id="{BB237A14-61B1-4C00-A670-5D8D68A866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44637" y="0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8F259-6F54-47A3-8D13-1603D786A3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990911" cy="6858001"/>
          </a:xfrm>
          <a:custGeom>
            <a:avLst/>
            <a:gdLst>
              <a:gd name="connsiteX0" fmla="*/ 3646196 w 4990911"/>
              <a:gd name="connsiteY0" fmla="*/ 0 h 6858001"/>
              <a:gd name="connsiteX1" fmla="*/ 4989734 w 4990911"/>
              <a:gd name="connsiteY1" fmla="*/ 0 h 6858001"/>
              <a:gd name="connsiteX2" fmla="*/ 4964689 w 4990911"/>
              <a:gd name="connsiteY2" fmla="*/ 155677 h 6858001"/>
              <a:gd name="connsiteX3" fmla="*/ 4940820 w 4990911"/>
              <a:gd name="connsiteY3" fmla="*/ 310668 h 6858001"/>
              <a:gd name="connsiteX4" fmla="*/ 4917456 w 4990911"/>
              <a:gd name="connsiteY4" fmla="*/ 466344 h 6858001"/>
              <a:gd name="connsiteX5" fmla="*/ 4897453 w 4990911"/>
              <a:gd name="connsiteY5" fmla="*/ 622707 h 6858001"/>
              <a:gd name="connsiteX6" fmla="*/ 4877282 w 4990911"/>
              <a:gd name="connsiteY6" fmla="*/ 778383 h 6858001"/>
              <a:gd name="connsiteX7" fmla="*/ 4858456 w 4990911"/>
              <a:gd name="connsiteY7" fmla="*/ 934746 h 6858001"/>
              <a:gd name="connsiteX8" fmla="*/ 4842320 w 4990911"/>
              <a:gd name="connsiteY8" fmla="*/ 1089051 h 6858001"/>
              <a:gd name="connsiteX9" fmla="*/ 4827024 w 4990911"/>
              <a:gd name="connsiteY9" fmla="*/ 1245413 h 6858001"/>
              <a:gd name="connsiteX10" fmla="*/ 4813072 w 4990911"/>
              <a:gd name="connsiteY10" fmla="*/ 1401090 h 6858001"/>
              <a:gd name="connsiteX11" fmla="*/ 4800970 w 4990911"/>
              <a:gd name="connsiteY11" fmla="*/ 1554023 h 6858001"/>
              <a:gd name="connsiteX12" fmla="*/ 4788867 w 4990911"/>
              <a:gd name="connsiteY12" fmla="*/ 1709014 h 6858001"/>
              <a:gd name="connsiteX13" fmla="*/ 4778782 w 4990911"/>
              <a:gd name="connsiteY13" fmla="*/ 1861947 h 6858001"/>
              <a:gd name="connsiteX14" fmla="*/ 4770882 w 4990911"/>
              <a:gd name="connsiteY14" fmla="*/ 2014881 h 6858001"/>
              <a:gd name="connsiteX15" fmla="*/ 4762645 w 4990911"/>
              <a:gd name="connsiteY15" fmla="*/ 2167128 h 6858001"/>
              <a:gd name="connsiteX16" fmla="*/ 4755754 w 4990911"/>
              <a:gd name="connsiteY16" fmla="*/ 2318004 h 6858001"/>
              <a:gd name="connsiteX17" fmla="*/ 4750879 w 4990911"/>
              <a:gd name="connsiteY17" fmla="*/ 2467509 h 6858001"/>
              <a:gd name="connsiteX18" fmla="*/ 4746677 w 4990911"/>
              <a:gd name="connsiteY18" fmla="*/ 2617013 h 6858001"/>
              <a:gd name="connsiteX19" fmla="*/ 4742643 w 4990911"/>
              <a:gd name="connsiteY19" fmla="*/ 2765146 h 6858001"/>
              <a:gd name="connsiteX20" fmla="*/ 4740794 w 4990911"/>
              <a:gd name="connsiteY20" fmla="*/ 2911221 h 6858001"/>
              <a:gd name="connsiteX21" fmla="*/ 4738777 w 4990911"/>
              <a:gd name="connsiteY21" fmla="*/ 3057297 h 6858001"/>
              <a:gd name="connsiteX22" fmla="*/ 4737768 w 4990911"/>
              <a:gd name="connsiteY22" fmla="*/ 3201315 h 6858001"/>
              <a:gd name="connsiteX23" fmla="*/ 4738777 w 4990911"/>
              <a:gd name="connsiteY23" fmla="*/ 3343961 h 6858001"/>
              <a:gd name="connsiteX24" fmla="*/ 4738777 w 4990911"/>
              <a:gd name="connsiteY24" fmla="*/ 3485236 h 6858001"/>
              <a:gd name="connsiteX25" fmla="*/ 4740794 w 4990911"/>
              <a:gd name="connsiteY25" fmla="*/ 3625139 h 6858001"/>
              <a:gd name="connsiteX26" fmla="*/ 4743819 w 4990911"/>
              <a:gd name="connsiteY26" fmla="*/ 3762299 h 6858001"/>
              <a:gd name="connsiteX27" fmla="*/ 4746677 w 4990911"/>
              <a:gd name="connsiteY27" fmla="*/ 3898087 h 6858001"/>
              <a:gd name="connsiteX28" fmla="*/ 4749871 w 4990911"/>
              <a:gd name="connsiteY28" fmla="*/ 4031133 h 6858001"/>
              <a:gd name="connsiteX29" fmla="*/ 4754745 w 4990911"/>
              <a:gd name="connsiteY29" fmla="*/ 4163492 h 6858001"/>
              <a:gd name="connsiteX30" fmla="*/ 4759956 w 4990911"/>
              <a:gd name="connsiteY30" fmla="*/ 4293793 h 6858001"/>
              <a:gd name="connsiteX31" fmla="*/ 4764662 w 4990911"/>
              <a:gd name="connsiteY31" fmla="*/ 4421352 h 6858001"/>
              <a:gd name="connsiteX32" fmla="*/ 4777942 w 4990911"/>
              <a:gd name="connsiteY32" fmla="*/ 4670298 h 6858001"/>
              <a:gd name="connsiteX33" fmla="*/ 4792061 w 4990911"/>
              <a:gd name="connsiteY33" fmla="*/ 4908956 h 6858001"/>
              <a:gd name="connsiteX34" fmla="*/ 4806853 w 4990911"/>
              <a:gd name="connsiteY34" fmla="*/ 5138013 h 6858001"/>
              <a:gd name="connsiteX35" fmla="*/ 4823158 w 4990911"/>
              <a:gd name="connsiteY35" fmla="*/ 5354726 h 6858001"/>
              <a:gd name="connsiteX36" fmla="*/ 4840135 w 4990911"/>
              <a:gd name="connsiteY36" fmla="*/ 5561838 h 6858001"/>
              <a:gd name="connsiteX37" fmla="*/ 4858456 w 4990911"/>
              <a:gd name="connsiteY37" fmla="*/ 5753862 h 6858001"/>
              <a:gd name="connsiteX38" fmla="*/ 4876442 w 4990911"/>
              <a:gd name="connsiteY38" fmla="*/ 5934227 h 6858001"/>
              <a:gd name="connsiteX39" fmla="*/ 4894427 w 4990911"/>
              <a:gd name="connsiteY39" fmla="*/ 6100191 h 6858001"/>
              <a:gd name="connsiteX40" fmla="*/ 4911404 w 4990911"/>
              <a:gd name="connsiteY40" fmla="*/ 6252438 h 6858001"/>
              <a:gd name="connsiteX41" fmla="*/ 4927541 w 4990911"/>
              <a:gd name="connsiteY41" fmla="*/ 6387541 h 6858001"/>
              <a:gd name="connsiteX42" fmla="*/ 4942837 w 4990911"/>
              <a:gd name="connsiteY42" fmla="*/ 6509613 h 6858001"/>
              <a:gd name="connsiteX43" fmla="*/ 4955612 w 4990911"/>
              <a:gd name="connsiteY43" fmla="*/ 6612483 h 6858001"/>
              <a:gd name="connsiteX44" fmla="*/ 4967714 w 4990911"/>
              <a:gd name="connsiteY44" fmla="*/ 6698894 h 6858001"/>
              <a:gd name="connsiteX45" fmla="*/ 4985028 w 4990911"/>
              <a:gd name="connsiteY45" fmla="*/ 6817538 h 6858001"/>
              <a:gd name="connsiteX46" fmla="*/ 4990911 w 4990911"/>
              <a:gd name="connsiteY46" fmla="*/ 6858000 h 6858001"/>
              <a:gd name="connsiteX47" fmla="*/ 4085557 w 4990911"/>
              <a:gd name="connsiteY47" fmla="*/ 6858000 h 6858001"/>
              <a:gd name="connsiteX48" fmla="*/ 4085557 w 4990911"/>
              <a:gd name="connsiteY48" fmla="*/ 6858001 h 6858001"/>
              <a:gd name="connsiteX49" fmla="*/ 0 w 4990911"/>
              <a:gd name="connsiteY49" fmla="*/ 6858001 h 6858001"/>
              <a:gd name="connsiteX50" fmla="*/ 0 w 4990911"/>
              <a:gd name="connsiteY50" fmla="*/ 1 h 6858001"/>
              <a:gd name="connsiteX51" fmla="*/ 3646196 w 4990911"/>
              <a:gd name="connsiteY51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990911" h="6858001">
                <a:moveTo>
                  <a:pt x="3646196" y="0"/>
                </a:moveTo>
                <a:lnTo>
                  <a:pt x="4989734" y="0"/>
                </a:lnTo>
                <a:lnTo>
                  <a:pt x="4964689" y="155677"/>
                </a:lnTo>
                <a:lnTo>
                  <a:pt x="4940820" y="310668"/>
                </a:lnTo>
                <a:lnTo>
                  <a:pt x="4917456" y="466344"/>
                </a:lnTo>
                <a:lnTo>
                  <a:pt x="4897453" y="622707"/>
                </a:lnTo>
                <a:lnTo>
                  <a:pt x="4877282" y="778383"/>
                </a:lnTo>
                <a:lnTo>
                  <a:pt x="4858456" y="934746"/>
                </a:lnTo>
                <a:lnTo>
                  <a:pt x="4842320" y="1089051"/>
                </a:lnTo>
                <a:lnTo>
                  <a:pt x="4827024" y="1245413"/>
                </a:lnTo>
                <a:lnTo>
                  <a:pt x="4813072" y="1401090"/>
                </a:lnTo>
                <a:lnTo>
                  <a:pt x="4800970" y="1554023"/>
                </a:lnTo>
                <a:lnTo>
                  <a:pt x="4788867" y="1709014"/>
                </a:lnTo>
                <a:lnTo>
                  <a:pt x="4778782" y="1861947"/>
                </a:lnTo>
                <a:lnTo>
                  <a:pt x="4770882" y="2014881"/>
                </a:lnTo>
                <a:lnTo>
                  <a:pt x="4762645" y="2167128"/>
                </a:lnTo>
                <a:lnTo>
                  <a:pt x="4755754" y="2318004"/>
                </a:lnTo>
                <a:lnTo>
                  <a:pt x="4750879" y="2467509"/>
                </a:lnTo>
                <a:lnTo>
                  <a:pt x="4746677" y="2617013"/>
                </a:lnTo>
                <a:lnTo>
                  <a:pt x="4742643" y="2765146"/>
                </a:lnTo>
                <a:lnTo>
                  <a:pt x="4740794" y="2911221"/>
                </a:lnTo>
                <a:lnTo>
                  <a:pt x="4738777" y="3057297"/>
                </a:lnTo>
                <a:lnTo>
                  <a:pt x="4737768" y="3201315"/>
                </a:lnTo>
                <a:lnTo>
                  <a:pt x="4738777" y="3343961"/>
                </a:lnTo>
                <a:lnTo>
                  <a:pt x="4738777" y="3485236"/>
                </a:lnTo>
                <a:lnTo>
                  <a:pt x="4740794" y="3625139"/>
                </a:lnTo>
                <a:lnTo>
                  <a:pt x="4743819" y="3762299"/>
                </a:lnTo>
                <a:lnTo>
                  <a:pt x="4746677" y="3898087"/>
                </a:lnTo>
                <a:lnTo>
                  <a:pt x="4749871" y="4031133"/>
                </a:lnTo>
                <a:lnTo>
                  <a:pt x="4754745" y="4163492"/>
                </a:lnTo>
                <a:lnTo>
                  <a:pt x="4759956" y="4293793"/>
                </a:lnTo>
                <a:lnTo>
                  <a:pt x="4764662" y="4421352"/>
                </a:lnTo>
                <a:lnTo>
                  <a:pt x="4777942" y="4670298"/>
                </a:lnTo>
                <a:lnTo>
                  <a:pt x="4792061" y="4908956"/>
                </a:lnTo>
                <a:lnTo>
                  <a:pt x="4806853" y="5138013"/>
                </a:lnTo>
                <a:lnTo>
                  <a:pt x="4823158" y="5354726"/>
                </a:lnTo>
                <a:lnTo>
                  <a:pt x="4840135" y="5561838"/>
                </a:lnTo>
                <a:lnTo>
                  <a:pt x="4858456" y="5753862"/>
                </a:lnTo>
                <a:lnTo>
                  <a:pt x="4876442" y="5934227"/>
                </a:lnTo>
                <a:lnTo>
                  <a:pt x="4894427" y="6100191"/>
                </a:lnTo>
                <a:lnTo>
                  <a:pt x="4911404" y="6252438"/>
                </a:lnTo>
                <a:lnTo>
                  <a:pt x="4927541" y="6387541"/>
                </a:lnTo>
                <a:lnTo>
                  <a:pt x="4942837" y="6509613"/>
                </a:lnTo>
                <a:lnTo>
                  <a:pt x="4955612" y="6612483"/>
                </a:lnTo>
                <a:lnTo>
                  <a:pt x="4967714" y="6698894"/>
                </a:lnTo>
                <a:lnTo>
                  <a:pt x="4985028" y="6817538"/>
                </a:lnTo>
                <a:lnTo>
                  <a:pt x="4990911" y="6858000"/>
                </a:lnTo>
                <a:lnTo>
                  <a:pt x="4085557" y="6858000"/>
                </a:lnTo>
                <a:lnTo>
                  <a:pt x="4085557" y="6858001"/>
                </a:lnTo>
                <a:lnTo>
                  <a:pt x="0" y="6858001"/>
                </a:lnTo>
                <a:lnTo>
                  <a:pt x="0" y="1"/>
                </a:lnTo>
                <a:lnTo>
                  <a:pt x="3646196" y="1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BA768A8-4FED-4ED8-9E46-6BE72188EC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3143" y="1645920"/>
            <a:ext cx="3522879" cy="4470821"/>
          </a:xfrm>
        </p:spPr>
        <p:txBody>
          <a:bodyPr>
            <a:normAutofit/>
          </a:bodyPr>
          <a:lstStyle/>
          <a:p>
            <a:pPr algn="r">
              <a:defRPr b="1">
                <a:solidFill>
                  <a:srgbClr val="0F172A"/>
                </a:solidFill>
              </a:defRPr>
            </a:pPr>
            <a:r>
              <a:rPr lang="en-US">
                <a:solidFill>
                  <a:srgbClr val="FFFFFF"/>
                </a:solidFill>
              </a:rPr>
              <a:t>Algorithm 4: Iterative Deepening Search (IDS)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04109" y="1645920"/>
            <a:ext cx="5919503" cy="447082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  <a:defRPr sz="2000"/>
            </a:pPr>
            <a:r>
              <a:rPr lang="en-US" sz="1400" b="1" dirty="0"/>
              <a:t>Concept: A hybrid strategy combining the best of BFS and DFS.</a:t>
            </a:r>
          </a:p>
          <a:p>
            <a:pPr>
              <a:lnSpc>
                <a:spcPct val="90000"/>
              </a:lnSpc>
              <a:spcAft>
                <a:spcPts val="1000"/>
              </a:spcAft>
              <a:defRPr sz="2000"/>
            </a:pPr>
            <a:r>
              <a:rPr lang="en-US" sz="1400" b="1" dirty="0"/>
              <a:t>Mechanism:</a:t>
            </a:r>
          </a:p>
          <a:p>
            <a:pPr lvl="1">
              <a:lnSpc>
                <a:spcPct val="90000"/>
              </a:lnSpc>
              <a:spcAft>
                <a:spcPts val="1000"/>
              </a:spcAft>
              <a:defRPr sz="2000"/>
            </a:pPr>
            <a:r>
              <a:rPr lang="en-US" sz="1400" b="1" dirty="0"/>
              <a:t>- Repeatedly runs DFS with an increasing Depth Limit (Limit = 0, 1, 2...).</a:t>
            </a:r>
          </a:p>
          <a:p>
            <a:pPr lvl="1">
              <a:lnSpc>
                <a:spcPct val="90000"/>
              </a:lnSpc>
              <a:spcAft>
                <a:spcPts val="1000"/>
              </a:spcAft>
              <a:defRPr sz="2000"/>
            </a:pPr>
            <a:r>
              <a:rPr lang="en-US" sz="1400" b="1" dirty="0"/>
              <a:t>- Effectively simulates BFS behavior using DFS memory efficiency.</a:t>
            </a:r>
          </a:p>
          <a:p>
            <a:pPr>
              <a:lnSpc>
                <a:spcPct val="90000"/>
              </a:lnSpc>
              <a:spcAft>
                <a:spcPts val="1000"/>
              </a:spcAft>
              <a:defRPr sz="2000"/>
            </a:pPr>
            <a:r>
              <a:rPr lang="en-US" sz="1400" b="1" dirty="0"/>
              <a:t>Complexity:</a:t>
            </a:r>
          </a:p>
          <a:p>
            <a:pPr lvl="1">
              <a:lnSpc>
                <a:spcPct val="90000"/>
              </a:lnSpc>
              <a:spcAft>
                <a:spcPts val="1000"/>
              </a:spcAft>
              <a:defRPr sz="2000"/>
            </a:pPr>
            <a:r>
              <a:rPr lang="en-US" sz="1400" b="1" dirty="0"/>
              <a:t>- Time: High overhead due to regenerating the tree multiple times.</a:t>
            </a:r>
          </a:p>
          <a:p>
            <a:pPr lvl="1">
              <a:lnSpc>
                <a:spcPct val="90000"/>
              </a:lnSpc>
              <a:spcAft>
                <a:spcPts val="1000"/>
              </a:spcAft>
              <a:defRPr sz="2000"/>
            </a:pPr>
            <a:r>
              <a:rPr lang="en-US" sz="1400" b="1" dirty="0"/>
              <a:t>- Space: O(bd) (Linear - Low memory).</a:t>
            </a:r>
          </a:p>
          <a:p>
            <a:pPr>
              <a:lnSpc>
                <a:spcPct val="90000"/>
              </a:lnSpc>
              <a:spcAft>
                <a:spcPts val="1000"/>
              </a:spcAft>
              <a:defRPr sz="2000"/>
            </a:pPr>
            <a:r>
              <a:rPr lang="en-US" sz="1400" b="1" dirty="0"/>
              <a:t>Pros: Guarantees Shortest Path with low memory usage</a:t>
            </a:r>
            <a:r>
              <a:rPr lang="en-US" sz="1400" dirty="0"/>
              <a:t>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52BEFF1-896C-45B1-B02C-96A6A1BC38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36">
            <a:extLst>
              <a:ext uri="{FF2B5EF4-FFF2-40B4-BE49-F238E27FC236}">
                <a16:creationId xmlns:a16="http://schemas.microsoft.com/office/drawing/2014/main" id="{BB237A14-61B1-4C00-A670-5D8D68A866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44637" y="0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8F259-6F54-47A3-8D13-1603D786A3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990911" cy="6858001"/>
          </a:xfrm>
          <a:custGeom>
            <a:avLst/>
            <a:gdLst>
              <a:gd name="connsiteX0" fmla="*/ 3646196 w 4990911"/>
              <a:gd name="connsiteY0" fmla="*/ 0 h 6858001"/>
              <a:gd name="connsiteX1" fmla="*/ 4989734 w 4990911"/>
              <a:gd name="connsiteY1" fmla="*/ 0 h 6858001"/>
              <a:gd name="connsiteX2" fmla="*/ 4964689 w 4990911"/>
              <a:gd name="connsiteY2" fmla="*/ 155677 h 6858001"/>
              <a:gd name="connsiteX3" fmla="*/ 4940820 w 4990911"/>
              <a:gd name="connsiteY3" fmla="*/ 310668 h 6858001"/>
              <a:gd name="connsiteX4" fmla="*/ 4917456 w 4990911"/>
              <a:gd name="connsiteY4" fmla="*/ 466344 h 6858001"/>
              <a:gd name="connsiteX5" fmla="*/ 4897453 w 4990911"/>
              <a:gd name="connsiteY5" fmla="*/ 622707 h 6858001"/>
              <a:gd name="connsiteX6" fmla="*/ 4877282 w 4990911"/>
              <a:gd name="connsiteY6" fmla="*/ 778383 h 6858001"/>
              <a:gd name="connsiteX7" fmla="*/ 4858456 w 4990911"/>
              <a:gd name="connsiteY7" fmla="*/ 934746 h 6858001"/>
              <a:gd name="connsiteX8" fmla="*/ 4842320 w 4990911"/>
              <a:gd name="connsiteY8" fmla="*/ 1089051 h 6858001"/>
              <a:gd name="connsiteX9" fmla="*/ 4827024 w 4990911"/>
              <a:gd name="connsiteY9" fmla="*/ 1245413 h 6858001"/>
              <a:gd name="connsiteX10" fmla="*/ 4813072 w 4990911"/>
              <a:gd name="connsiteY10" fmla="*/ 1401090 h 6858001"/>
              <a:gd name="connsiteX11" fmla="*/ 4800970 w 4990911"/>
              <a:gd name="connsiteY11" fmla="*/ 1554023 h 6858001"/>
              <a:gd name="connsiteX12" fmla="*/ 4788867 w 4990911"/>
              <a:gd name="connsiteY12" fmla="*/ 1709014 h 6858001"/>
              <a:gd name="connsiteX13" fmla="*/ 4778782 w 4990911"/>
              <a:gd name="connsiteY13" fmla="*/ 1861947 h 6858001"/>
              <a:gd name="connsiteX14" fmla="*/ 4770882 w 4990911"/>
              <a:gd name="connsiteY14" fmla="*/ 2014881 h 6858001"/>
              <a:gd name="connsiteX15" fmla="*/ 4762645 w 4990911"/>
              <a:gd name="connsiteY15" fmla="*/ 2167128 h 6858001"/>
              <a:gd name="connsiteX16" fmla="*/ 4755754 w 4990911"/>
              <a:gd name="connsiteY16" fmla="*/ 2318004 h 6858001"/>
              <a:gd name="connsiteX17" fmla="*/ 4750879 w 4990911"/>
              <a:gd name="connsiteY17" fmla="*/ 2467509 h 6858001"/>
              <a:gd name="connsiteX18" fmla="*/ 4746677 w 4990911"/>
              <a:gd name="connsiteY18" fmla="*/ 2617013 h 6858001"/>
              <a:gd name="connsiteX19" fmla="*/ 4742643 w 4990911"/>
              <a:gd name="connsiteY19" fmla="*/ 2765146 h 6858001"/>
              <a:gd name="connsiteX20" fmla="*/ 4740794 w 4990911"/>
              <a:gd name="connsiteY20" fmla="*/ 2911221 h 6858001"/>
              <a:gd name="connsiteX21" fmla="*/ 4738777 w 4990911"/>
              <a:gd name="connsiteY21" fmla="*/ 3057297 h 6858001"/>
              <a:gd name="connsiteX22" fmla="*/ 4737768 w 4990911"/>
              <a:gd name="connsiteY22" fmla="*/ 3201315 h 6858001"/>
              <a:gd name="connsiteX23" fmla="*/ 4738777 w 4990911"/>
              <a:gd name="connsiteY23" fmla="*/ 3343961 h 6858001"/>
              <a:gd name="connsiteX24" fmla="*/ 4738777 w 4990911"/>
              <a:gd name="connsiteY24" fmla="*/ 3485236 h 6858001"/>
              <a:gd name="connsiteX25" fmla="*/ 4740794 w 4990911"/>
              <a:gd name="connsiteY25" fmla="*/ 3625139 h 6858001"/>
              <a:gd name="connsiteX26" fmla="*/ 4743819 w 4990911"/>
              <a:gd name="connsiteY26" fmla="*/ 3762299 h 6858001"/>
              <a:gd name="connsiteX27" fmla="*/ 4746677 w 4990911"/>
              <a:gd name="connsiteY27" fmla="*/ 3898087 h 6858001"/>
              <a:gd name="connsiteX28" fmla="*/ 4749871 w 4990911"/>
              <a:gd name="connsiteY28" fmla="*/ 4031133 h 6858001"/>
              <a:gd name="connsiteX29" fmla="*/ 4754745 w 4990911"/>
              <a:gd name="connsiteY29" fmla="*/ 4163492 h 6858001"/>
              <a:gd name="connsiteX30" fmla="*/ 4759956 w 4990911"/>
              <a:gd name="connsiteY30" fmla="*/ 4293793 h 6858001"/>
              <a:gd name="connsiteX31" fmla="*/ 4764662 w 4990911"/>
              <a:gd name="connsiteY31" fmla="*/ 4421352 h 6858001"/>
              <a:gd name="connsiteX32" fmla="*/ 4777942 w 4990911"/>
              <a:gd name="connsiteY32" fmla="*/ 4670298 h 6858001"/>
              <a:gd name="connsiteX33" fmla="*/ 4792061 w 4990911"/>
              <a:gd name="connsiteY33" fmla="*/ 4908956 h 6858001"/>
              <a:gd name="connsiteX34" fmla="*/ 4806853 w 4990911"/>
              <a:gd name="connsiteY34" fmla="*/ 5138013 h 6858001"/>
              <a:gd name="connsiteX35" fmla="*/ 4823158 w 4990911"/>
              <a:gd name="connsiteY35" fmla="*/ 5354726 h 6858001"/>
              <a:gd name="connsiteX36" fmla="*/ 4840135 w 4990911"/>
              <a:gd name="connsiteY36" fmla="*/ 5561838 h 6858001"/>
              <a:gd name="connsiteX37" fmla="*/ 4858456 w 4990911"/>
              <a:gd name="connsiteY37" fmla="*/ 5753862 h 6858001"/>
              <a:gd name="connsiteX38" fmla="*/ 4876442 w 4990911"/>
              <a:gd name="connsiteY38" fmla="*/ 5934227 h 6858001"/>
              <a:gd name="connsiteX39" fmla="*/ 4894427 w 4990911"/>
              <a:gd name="connsiteY39" fmla="*/ 6100191 h 6858001"/>
              <a:gd name="connsiteX40" fmla="*/ 4911404 w 4990911"/>
              <a:gd name="connsiteY40" fmla="*/ 6252438 h 6858001"/>
              <a:gd name="connsiteX41" fmla="*/ 4927541 w 4990911"/>
              <a:gd name="connsiteY41" fmla="*/ 6387541 h 6858001"/>
              <a:gd name="connsiteX42" fmla="*/ 4942837 w 4990911"/>
              <a:gd name="connsiteY42" fmla="*/ 6509613 h 6858001"/>
              <a:gd name="connsiteX43" fmla="*/ 4955612 w 4990911"/>
              <a:gd name="connsiteY43" fmla="*/ 6612483 h 6858001"/>
              <a:gd name="connsiteX44" fmla="*/ 4967714 w 4990911"/>
              <a:gd name="connsiteY44" fmla="*/ 6698894 h 6858001"/>
              <a:gd name="connsiteX45" fmla="*/ 4985028 w 4990911"/>
              <a:gd name="connsiteY45" fmla="*/ 6817538 h 6858001"/>
              <a:gd name="connsiteX46" fmla="*/ 4990911 w 4990911"/>
              <a:gd name="connsiteY46" fmla="*/ 6858000 h 6858001"/>
              <a:gd name="connsiteX47" fmla="*/ 4085557 w 4990911"/>
              <a:gd name="connsiteY47" fmla="*/ 6858000 h 6858001"/>
              <a:gd name="connsiteX48" fmla="*/ 4085557 w 4990911"/>
              <a:gd name="connsiteY48" fmla="*/ 6858001 h 6858001"/>
              <a:gd name="connsiteX49" fmla="*/ 0 w 4990911"/>
              <a:gd name="connsiteY49" fmla="*/ 6858001 h 6858001"/>
              <a:gd name="connsiteX50" fmla="*/ 0 w 4990911"/>
              <a:gd name="connsiteY50" fmla="*/ 1 h 6858001"/>
              <a:gd name="connsiteX51" fmla="*/ 3646196 w 4990911"/>
              <a:gd name="connsiteY51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990911" h="6858001">
                <a:moveTo>
                  <a:pt x="3646196" y="0"/>
                </a:moveTo>
                <a:lnTo>
                  <a:pt x="4989734" y="0"/>
                </a:lnTo>
                <a:lnTo>
                  <a:pt x="4964689" y="155677"/>
                </a:lnTo>
                <a:lnTo>
                  <a:pt x="4940820" y="310668"/>
                </a:lnTo>
                <a:lnTo>
                  <a:pt x="4917456" y="466344"/>
                </a:lnTo>
                <a:lnTo>
                  <a:pt x="4897453" y="622707"/>
                </a:lnTo>
                <a:lnTo>
                  <a:pt x="4877282" y="778383"/>
                </a:lnTo>
                <a:lnTo>
                  <a:pt x="4858456" y="934746"/>
                </a:lnTo>
                <a:lnTo>
                  <a:pt x="4842320" y="1089051"/>
                </a:lnTo>
                <a:lnTo>
                  <a:pt x="4827024" y="1245413"/>
                </a:lnTo>
                <a:lnTo>
                  <a:pt x="4813072" y="1401090"/>
                </a:lnTo>
                <a:lnTo>
                  <a:pt x="4800970" y="1554023"/>
                </a:lnTo>
                <a:lnTo>
                  <a:pt x="4788867" y="1709014"/>
                </a:lnTo>
                <a:lnTo>
                  <a:pt x="4778782" y="1861947"/>
                </a:lnTo>
                <a:lnTo>
                  <a:pt x="4770882" y="2014881"/>
                </a:lnTo>
                <a:lnTo>
                  <a:pt x="4762645" y="2167128"/>
                </a:lnTo>
                <a:lnTo>
                  <a:pt x="4755754" y="2318004"/>
                </a:lnTo>
                <a:lnTo>
                  <a:pt x="4750879" y="2467509"/>
                </a:lnTo>
                <a:lnTo>
                  <a:pt x="4746677" y="2617013"/>
                </a:lnTo>
                <a:lnTo>
                  <a:pt x="4742643" y="2765146"/>
                </a:lnTo>
                <a:lnTo>
                  <a:pt x="4740794" y="2911221"/>
                </a:lnTo>
                <a:lnTo>
                  <a:pt x="4738777" y="3057297"/>
                </a:lnTo>
                <a:lnTo>
                  <a:pt x="4737768" y="3201315"/>
                </a:lnTo>
                <a:lnTo>
                  <a:pt x="4738777" y="3343961"/>
                </a:lnTo>
                <a:lnTo>
                  <a:pt x="4738777" y="3485236"/>
                </a:lnTo>
                <a:lnTo>
                  <a:pt x="4740794" y="3625139"/>
                </a:lnTo>
                <a:lnTo>
                  <a:pt x="4743819" y="3762299"/>
                </a:lnTo>
                <a:lnTo>
                  <a:pt x="4746677" y="3898087"/>
                </a:lnTo>
                <a:lnTo>
                  <a:pt x="4749871" y="4031133"/>
                </a:lnTo>
                <a:lnTo>
                  <a:pt x="4754745" y="4163492"/>
                </a:lnTo>
                <a:lnTo>
                  <a:pt x="4759956" y="4293793"/>
                </a:lnTo>
                <a:lnTo>
                  <a:pt x="4764662" y="4421352"/>
                </a:lnTo>
                <a:lnTo>
                  <a:pt x="4777942" y="4670298"/>
                </a:lnTo>
                <a:lnTo>
                  <a:pt x="4792061" y="4908956"/>
                </a:lnTo>
                <a:lnTo>
                  <a:pt x="4806853" y="5138013"/>
                </a:lnTo>
                <a:lnTo>
                  <a:pt x="4823158" y="5354726"/>
                </a:lnTo>
                <a:lnTo>
                  <a:pt x="4840135" y="5561838"/>
                </a:lnTo>
                <a:lnTo>
                  <a:pt x="4858456" y="5753862"/>
                </a:lnTo>
                <a:lnTo>
                  <a:pt x="4876442" y="5934227"/>
                </a:lnTo>
                <a:lnTo>
                  <a:pt x="4894427" y="6100191"/>
                </a:lnTo>
                <a:lnTo>
                  <a:pt x="4911404" y="6252438"/>
                </a:lnTo>
                <a:lnTo>
                  <a:pt x="4927541" y="6387541"/>
                </a:lnTo>
                <a:lnTo>
                  <a:pt x="4942837" y="6509613"/>
                </a:lnTo>
                <a:lnTo>
                  <a:pt x="4955612" y="6612483"/>
                </a:lnTo>
                <a:lnTo>
                  <a:pt x="4967714" y="6698894"/>
                </a:lnTo>
                <a:lnTo>
                  <a:pt x="4985028" y="6817538"/>
                </a:lnTo>
                <a:lnTo>
                  <a:pt x="4990911" y="6858000"/>
                </a:lnTo>
                <a:lnTo>
                  <a:pt x="4085557" y="6858000"/>
                </a:lnTo>
                <a:lnTo>
                  <a:pt x="4085557" y="6858001"/>
                </a:lnTo>
                <a:lnTo>
                  <a:pt x="0" y="6858001"/>
                </a:lnTo>
                <a:lnTo>
                  <a:pt x="0" y="1"/>
                </a:lnTo>
                <a:lnTo>
                  <a:pt x="3646196" y="1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BA768A8-4FED-4ED8-9E46-6BE72188EC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3143" y="1645920"/>
            <a:ext cx="3522879" cy="4470821"/>
          </a:xfrm>
        </p:spPr>
        <p:txBody>
          <a:bodyPr>
            <a:normAutofit/>
          </a:bodyPr>
          <a:lstStyle/>
          <a:p>
            <a:pPr algn="r">
              <a:defRPr b="1">
                <a:solidFill>
                  <a:srgbClr val="0F172A"/>
                </a:solidFill>
              </a:defRPr>
            </a:pPr>
            <a:r>
              <a:rPr lang="en-US">
                <a:solidFill>
                  <a:srgbClr val="FFFFFF"/>
                </a:solidFill>
              </a:rPr>
              <a:t>Algorithm 5: A* Search (The Best)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04109" y="1645920"/>
            <a:ext cx="5919503" cy="447082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  <a:defRPr sz="2000"/>
            </a:pPr>
            <a:r>
              <a:rPr lang="en-US" sz="1700" b="1" dirty="0"/>
              <a:t>Concept: Informed search that uses 'intelligence' to guide the search.</a:t>
            </a:r>
          </a:p>
          <a:p>
            <a:pPr>
              <a:lnSpc>
                <a:spcPct val="90000"/>
              </a:lnSpc>
              <a:spcAft>
                <a:spcPts val="1000"/>
              </a:spcAft>
              <a:defRPr sz="2000"/>
            </a:pPr>
            <a:r>
              <a:rPr lang="en-US" sz="1700" b="1" dirty="0"/>
              <a:t>Mechanism:</a:t>
            </a:r>
          </a:p>
          <a:p>
            <a:pPr lvl="1">
              <a:lnSpc>
                <a:spcPct val="90000"/>
              </a:lnSpc>
              <a:spcAft>
                <a:spcPts val="1000"/>
              </a:spcAft>
              <a:defRPr sz="2000"/>
            </a:pPr>
            <a:r>
              <a:rPr lang="en-US" sz="1700" b="1" dirty="0"/>
              <a:t>- Uses an evaluation function: f(n) = g(n) + h(n).</a:t>
            </a:r>
          </a:p>
          <a:p>
            <a:pPr lvl="1">
              <a:lnSpc>
                <a:spcPct val="90000"/>
              </a:lnSpc>
              <a:spcAft>
                <a:spcPts val="1000"/>
              </a:spcAft>
              <a:defRPr sz="2000"/>
            </a:pPr>
            <a:r>
              <a:rPr lang="en-US" sz="1700" b="1" dirty="0"/>
              <a:t>- g(n): Actual cost from Start.</a:t>
            </a:r>
          </a:p>
          <a:p>
            <a:pPr lvl="1">
              <a:lnSpc>
                <a:spcPct val="90000"/>
              </a:lnSpc>
              <a:spcAft>
                <a:spcPts val="1000"/>
              </a:spcAft>
              <a:defRPr sz="2000"/>
            </a:pPr>
            <a:r>
              <a:rPr lang="en-US" sz="1700" b="1" dirty="0"/>
              <a:t>- h(n): Heuristic estimate to Goal (Manhattan Distance).</a:t>
            </a:r>
          </a:p>
          <a:p>
            <a:pPr lvl="1">
              <a:lnSpc>
                <a:spcPct val="90000"/>
              </a:lnSpc>
              <a:spcAft>
                <a:spcPts val="1000"/>
              </a:spcAft>
              <a:defRPr sz="2000"/>
            </a:pPr>
            <a:r>
              <a:rPr lang="en-US" sz="1700" b="1" dirty="0"/>
              <a:t>- Prioritizes nodes that minimize f(n) (get closer to the goal).</a:t>
            </a:r>
          </a:p>
          <a:p>
            <a:pPr>
              <a:lnSpc>
                <a:spcPct val="90000"/>
              </a:lnSpc>
              <a:spcAft>
                <a:spcPts val="1000"/>
              </a:spcAft>
              <a:defRPr sz="2000"/>
            </a:pPr>
            <a:r>
              <a:rPr lang="en-US" sz="1700" b="1" dirty="0"/>
              <a:t>Pros: The most efficient algorithm; balances Speed and Optimality.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E78424C-6FD0-41F8-9CAA-5DC19C4235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855" y="1447800"/>
            <a:ext cx="3108626" cy="4572000"/>
          </a:xfrm>
        </p:spPr>
        <p:txBody>
          <a:bodyPr anchor="ctr">
            <a:normAutofit/>
          </a:bodyPr>
          <a:lstStyle/>
          <a:p>
            <a:pPr>
              <a:defRPr b="1">
                <a:solidFill>
                  <a:srgbClr val="0F172A"/>
                </a:solidFill>
              </a:defRPr>
            </a:pPr>
            <a:r>
              <a:rPr lang="en-US" sz="2700">
                <a:solidFill>
                  <a:srgbClr val="F2F2F2"/>
                </a:solidFill>
              </a:rPr>
              <a:t>Code Implementation Details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D136760-57DC-4301-8BEA-B71AD2D139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61310" y="0"/>
            <a:ext cx="8030690" cy="6858000"/>
          </a:xfrm>
          <a:custGeom>
            <a:avLst/>
            <a:gdLst>
              <a:gd name="connsiteX0" fmla="*/ 1176 w 8030690"/>
              <a:gd name="connsiteY0" fmla="*/ 0 h 6858000"/>
              <a:gd name="connsiteX1" fmla="*/ 1344715 w 8030690"/>
              <a:gd name="connsiteY1" fmla="*/ 0 h 6858000"/>
              <a:gd name="connsiteX2" fmla="*/ 1344715 w 8030690"/>
              <a:gd name="connsiteY2" fmla="*/ 0 h 6858000"/>
              <a:gd name="connsiteX3" fmla="*/ 8030690 w 8030690"/>
              <a:gd name="connsiteY3" fmla="*/ 0 h 6858000"/>
              <a:gd name="connsiteX4" fmla="*/ 8030690 w 8030690"/>
              <a:gd name="connsiteY4" fmla="*/ 6858000 h 6858000"/>
              <a:gd name="connsiteX5" fmla="*/ 477746 w 8030690"/>
              <a:gd name="connsiteY5" fmla="*/ 6858000 h 6858000"/>
              <a:gd name="connsiteX6" fmla="*/ 477746 w 8030690"/>
              <a:gd name="connsiteY6" fmla="*/ 6858000 h 6858000"/>
              <a:gd name="connsiteX7" fmla="*/ 0 w 8030690"/>
              <a:gd name="connsiteY7" fmla="*/ 6858000 h 6858000"/>
              <a:gd name="connsiteX8" fmla="*/ 5883 w 8030690"/>
              <a:gd name="connsiteY8" fmla="*/ 6817538 h 6858000"/>
              <a:gd name="connsiteX9" fmla="*/ 23196 w 8030690"/>
              <a:gd name="connsiteY9" fmla="*/ 6698894 h 6858000"/>
              <a:gd name="connsiteX10" fmla="*/ 35298 w 8030690"/>
              <a:gd name="connsiteY10" fmla="*/ 6612483 h 6858000"/>
              <a:gd name="connsiteX11" fmla="*/ 48073 w 8030690"/>
              <a:gd name="connsiteY11" fmla="*/ 6509613 h 6858000"/>
              <a:gd name="connsiteX12" fmla="*/ 63369 w 8030690"/>
              <a:gd name="connsiteY12" fmla="*/ 6387541 h 6858000"/>
              <a:gd name="connsiteX13" fmla="*/ 79506 w 8030690"/>
              <a:gd name="connsiteY13" fmla="*/ 6252438 h 6858000"/>
              <a:gd name="connsiteX14" fmla="*/ 96483 w 8030690"/>
              <a:gd name="connsiteY14" fmla="*/ 6100191 h 6858000"/>
              <a:gd name="connsiteX15" fmla="*/ 114468 w 8030690"/>
              <a:gd name="connsiteY15" fmla="*/ 5934227 h 6858000"/>
              <a:gd name="connsiteX16" fmla="*/ 132454 w 8030690"/>
              <a:gd name="connsiteY16" fmla="*/ 5753862 h 6858000"/>
              <a:gd name="connsiteX17" fmla="*/ 150775 w 8030690"/>
              <a:gd name="connsiteY17" fmla="*/ 5561838 h 6858000"/>
              <a:gd name="connsiteX18" fmla="*/ 167752 w 8030690"/>
              <a:gd name="connsiteY18" fmla="*/ 5354726 h 6858000"/>
              <a:gd name="connsiteX19" fmla="*/ 184057 w 8030690"/>
              <a:gd name="connsiteY19" fmla="*/ 5138013 h 6858000"/>
              <a:gd name="connsiteX20" fmla="*/ 198849 w 8030690"/>
              <a:gd name="connsiteY20" fmla="*/ 4908956 h 6858000"/>
              <a:gd name="connsiteX21" fmla="*/ 212968 w 8030690"/>
              <a:gd name="connsiteY21" fmla="*/ 4670298 h 6858000"/>
              <a:gd name="connsiteX22" fmla="*/ 226248 w 8030690"/>
              <a:gd name="connsiteY22" fmla="*/ 4421352 h 6858000"/>
              <a:gd name="connsiteX23" fmla="*/ 230954 w 8030690"/>
              <a:gd name="connsiteY23" fmla="*/ 4293793 h 6858000"/>
              <a:gd name="connsiteX24" fmla="*/ 236165 w 8030690"/>
              <a:gd name="connsiteY24" fmla="*/ 4163491 h 6858000"/>
              <a:gd name="connsiteX25" fmla="*/ 241039 w 8030690"/>
              <a:gd name="connsiteY25" fmla="*/ 4031132 h 6858000"/>
              <a:gd name="connsiteX26" fmla="*/ 244233 w 8030690"/>
              <a:gd name="connsiteY26" fmla="*/ 3898087 h 6858000"/>
              <a:gd name="connsiteX27" fmla="*/ 247091 w 8030690"/>
              <a:gd name="connsiteY27" fmla="*/ 3762298 h 6858000"/>
              <a:gd name="connsiteX28" fmla="*/ 250116 w 8030690"/>
              <a:gd name="connsiteY28" fmla="*/ 3625138 h 6858000"/>
              <a:gd name="connsiteX29" fmla="*/ 252133 w 8030690"/>
              <a:gd name="connsiteY29" fmla="*/ 3485235 h 6858000"/>
              <a:gd name="connsiteX30" fmla="*/ 252133 w 8030690"/>
              <a:gd name="connsiteY30" fmla="*/ 3343960 h 6858000"/>
              <a:gd name="connsiteX31" fmla="*/ 253142 w 8030690"/>
              <a:gd name="connsiteY31" fmla="*/ 3201314 h 6858000"/>
              <a:gd name="connsiteX32" fmla="*/ 252133 w 8030690"/>
              <a:gd name="connsiteY32" fmla="*/ 3057296 h 6858000"/>
              <a:gd name="connsiteX33" fmla="*/ 250116 w 8030690"/>
              <a:gd name="connsiteY33" fmla="*/ 2911221 h 6858000"/>
              <a:gd name="connsiteX34" fmla="*/ 248267 w 8030690"/>
              <a:gd name="connsiteY34" fmla="*/ 2765145 h 6858000"/>
              <a:gd name="connsiteX35" fmla="*/ 244233 w 8030690"/>
              <a:gd name="connsiteY35" fmla="*/ 2617013 h 6858000"/>
              <a:gd name="connsiteX36" fmla="*/ 240031 w 8030690"/>
              <a:gd name="connsiteY36" fmla="*/ 2467508 h 6858000"/>
              <a:gd name="connsiteX37" fmla="*/ 235156 w 8030690"/>
              <a:gd name="connsiteY37" fmla="*/ 2318004 h 6858000"/>
              <a:gd name="connsiteX38" fmla="*/ 228265 w 8030690"/>
              <a:gd name="connsiteY38" fmla="*/ 2167128 h 6858000"/>
              <a:gd name="connsiteX39" fmla="*/ 220028 w 8030690"/>
              <a:gd name="connsiteY39" fmla="*/ 2014880 h 6858000"/>
              <a:gd name="connsiteX40" fmla="*/ 212128 w 8030690"/>
              <a:gd name="connsiteY40" fmla="*/ 1861947 h 6858000"/>
              <a:gd name="connsiteX41" fmla="*/ 202043 w 8030690"/>
              <a:gd name="connsiteY41" fmla="*/ 1709013 h 6858000"/>
              <a:gd name="connsiteX42" fmla="*/ 189940 w 8030690"/>
              <a:gd name="connsiteY42" fmla="*/ 1554023 h 6858000"/>
              <a:gd name="connsiteX43" fmla="*/ 177838 w 8030690"/>
              <a:gd name="connsiteY43" fmla="*/ 1401089 h 6858000"/>
              <a:gd name="connsiteX44" fmla="*/ 163886 w 8030690"/>
              <a:gd name="connsiteY44" fmla="*/ 1245413 h 6858000"/>
              <a:gd name="connsiteX45" fmla="*/ 148590 w 8030690"/>
              <a:gd name="connsiteY45" fmla="*/ 1089050 h 6858000"/>
              <a:gd name="connsiteX46" fmla="*/ 132454 w 8030690"/>
              <a:gd name="connsiteY46" fmla="*/ 934745 h 6858000"/>
              <a:gd name="connsiteX47" fmla="*/ 113628 w 8030690"/>
              <a:gd name="connsiteY47" fmla="*/ 778383 h 6858000"/>
              <a:gd name="connsiteX48" fmla="*/ 93457 w 8030690"/>
              <a:gd name="connsiteY48" fmla="*/ 622706 h 6858000"/>
              <a:gd name="connsiteX49" fmla="*/ 73454 w 8030690"/>
              <a:gd name="connsiteY49" fmla="*/ 466344 h 6858000"/>
              <a:gd name="connsiteX50" fmla="*/ 50090 w 8030690"/>
              <a:gd name="connsiteY50" fmla="*/ 310667 h 6858000"/>
              <a:gd name="connsiteX51" fmla="*/ 26222 w 8030690"/>
              <a:gd name="connsiteY51" fmla="*/ 15567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8030690" h="6858000">
                <a:moveTo>
                  <a:pt x="1176" y="0"/>
                </a:moveTo>
                <a:lnTo>
                  <a:pt x="1344715" y="0"/>
                </a:lnTo>
                <a:lnTo>
                  <a:pt x="1344715" y="0"/>
                </a:lnTo>
                <a:lnTo>
                  <a:pt x="8030690" y="0"/>
                </a:lnTo>
                <a:lnTo>
                  <a:pt x="8030690" y="6858000"/>
                </a:lnTo>
                <a:lnTo>
                  <a:pt x="477746" y="6858000"/>
                </a:lnTo>
                <a:lnTo>
                  <a:pt x="477746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8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8" y="5934227"/>
                </a:lnTo>
                <a:lnTo>
                  <a:pt x="132454" y="5753862"/>
                </a:lnTo>
                <a:lnTo>
                  <a:pt x="150775" y="5561838"/>
                </a:lnTo>
                <a:lnTo>
                  <a:pt x="167752" y="5354726"/>
                </a:lnTo>
                <a:lnTo>
                  <a:pt x="184057" y="5138013"/>
                </a:lnTo>
                <a:lnTo>
                  <a:pt x="198849" y="4908956"/>
                </a:lnTo>
                <a:lnTo>
                  <a:pt x="212968" y="4670298"/>
                </a:lnTo>
                <a:lnTo>
                  <a:pt x="226248" y="4421352"/>
                </a:lnTo>
                <a:lnTo>
                  <a:pt x="230954" y="4293793"/>
                </a:lnTo>
                <a:lnTo>
                  <a:pt x="236165" y="4163491"/>
                </a:lnTo>
                <a:lnTo>
                  <a:pt x="241039" y="4031132"/>
                </a:lnTo>
                <a:lnTo>
                  <a:pt x="244233" y="3898087"/>
                </a:lnTo>
                <a:lnTo>
                  <a:pt x="247091" y="3762298"/>
                </a:lnTo>
                <a:lnTo>
                  <a:pt x="250116" y="3625138"/>
                </a:lnTo>
                <a:lnTo>
                  <a:pt x="252133" y="3485235"/>
                </a:lnTo>
                <a:lnTo>
                  <a:pt x="252133" y="3343960"/>
                </a:lnTo>
                <a:lnTo>
                  <a:pt x="253142" y="3201314"/>
                </a:lnTo>
                <a:lnTo>
                  <a:pt x="252133" y="3057296"/>
                </a:lnTo>
                <a:lnTo>
                  <a:pt x="250116" y="2911221"/>
                </a:lnTo>
                <a:lnTo>
                  <a:pt x="248267" y="2765145"/>
                </a:lnTo>
                <a:lnTo>
                  <a:pt x="244233" y="2617013"/>
                </a:lnTo>
                <a:lnTo>
                  <a:pt x="240031" y="2467508"/>
                </a:lnTo>
                <a:lnTo>
                  <a:pt x="235156" y="2318004"/>
                </a:lnTo>
                <a:lnTo>
                  <a:pt x="228265" y="2167128"/>
                </a:lnTo>
                <a:lnTo>
                  <a:pt x="220028" y="2014880"/>
                </a:lnTo>
                <a:lnTo>
                  <a:pt x="212128" y="1861947"/>
                </a:lnTo>
                <a:lnTo>
                  <a:pt x="202043" y="1709013"/>
                </a:lnTo>
                <a:lnTo>
                  <a:pt x="189940" y="1554023"/>
                </a:lnTo>
                <a:lnTo>
                  <a:pt x="177838" y="1401089"/>
                </a:lnTo>
                <a:lnTo>
                  <a:pt x="163886" y="1245413"/>
                </a:lnTo>
                <a:lnTo>
                  <a:pt x="148590" y="1089050"/>
                </a:lnTo>
                <a:lnTo>
                  <a:pt x="132454" y="934745"/>
                </a:lnTo>
                <a:lnTo>
                  <a:pt x="113628" y="778383"/>
                </a:lnTo>
                <a:lnTo>
                  <a:pt x="93457" y="622706"/>
                </a:lnTo>
                <a:lnTo>
                  <a:pt x="73454" y="466344"/>
                </a:lnTo>
                <a:lnTo>
                  <a:pt x="50090" y="310667"/>
                </a:lnTo>
                <a:lnTo>
                  <a:pt x="26222" y="1556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BDC58DEA-1307-4F44-AD47-E613D8B76A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4811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99B912D-1E4B-42AF-A2BE-CFEFEC916E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E3FD902-DFAB-2647-C113-43774FC2F3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05189609"/>
              </p:ext>
            </p:extLst>
          </p:nvPr>
        </p:nvGraphicFramePr>
        <p:xfrm>
          <a:off x="5048250" y="1447800"/>
          <a:ext cx="649605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8A3C342-1D03-412F-8DD3-BF519E8E0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8930" y="629266"/>
            <a:ext cx="6188190" cy="1622321"/>
          </a:xfrm>
        </p:spPr>
        <p:txBody>
          <a:bodyPr>
            <a:normAutofit/>
          </a:bodyPr>
          <a:lstStyle/>
          <a:p>
            <a:pPr>
              <a:defRPr b="1">
                <a:solidFill>
                  <a:srgbClr val="0F172A"/>
                </a:solidFill>
              </a:defRPr>
            </a:pPr>
            <a:r>
              <a:rPr lang="en-US">
                <a:solidFill>
                  <a:srgbClr val="EBEBEB"/>
                </a:solidFill>
              </a:rPr>
              <a:t>Experimental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8930" y="2438400"/>
            <a:ext cx="6188189" cy="378541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  <a:defRPr sz="2000"/>
            </a:pPr>
            <a:r>
              <a:rPr lang="en-US" sz="1900">
                <a:solidFill>
                  <a:srgbClr val="FFFFFF"/>
                </a:solidFill>
              </a:rPr>
              <a:t>Test Environment:</a:t>
            </a:r>
          </a:p>
          <a:p>
            <a:pPr lvl="1">
              <a:lnSpc>
                <a:spcPct val="90000"/>
              </a:lnSpc>
              <a:spcAft>
                <a:spcPts val="1000"/>
              </a:spcAft>
              <a:defRPr sz="2000"/>
            </a:pPr>
            <a:r>
              <a:rPr lang="en-US" sz="1900">
                <a:solidFill>
                  <a:srgbClr val="FFFFFF"/>
                </a:solidFill>
              </a:rPr>
              <a:t>- Grid Size: 10 x 10.</a:t>
            </a:r>
          </a:p>
          <a:p>
            <a:pPr lvl="1">
              <a:lnSpc>
                <a:spcPct val="90000"/>
              </a:lnSpc>
              <a:spcAft>
                <a:spcPts val="1000"/>
              </a:spcAft>
              <a:defRPr sz="2000"/>
            </a:pPr>
            <a:r>
              <a:rPr lang="en-US" sz="1900">
                <a:solidFill>
                  <a:srgbClr val="FFFFFF"/>
                </a:solidFill>
              </a:rPr>
              <a:t>- Obstacles: Randomly generated (approx. 20% density).</a:t>
            </a:r>
          </a:p>
          <a:p>
            <a:pPr>
              <a:lnSpc>
                <a:spcPct val="90000"/>
              </a:lnSpc>
              <a:spcAft>
                <a:spcPts val="1000"/>
              </a:spcAft>
              <a:defRPr sz="2000"/>
            </a:pPr>
            <a:r>
              <a:rPr lang="en-US" sz="1900">
                <a:solidFill>
                  <a:srgbClr val="FFFFFF"/>
                </a:solidFill>
              </a:rPr>
              <a:t>Consistency:</a:t>
            </a:r>
          </a:p>
          <a:p>
            <a:pPr lvl="1">
              <a:lnSpc>
                <a:spcPct val="90000"/>
              </a:lnSpc>
              <a:spcAft>
                <a:spcPts val="1000"/>
              </a:spcAft>
              <a:defRPr sz="2000"/>
            </a:pPr>
            <a:r>
              <a:rPr lang="en-US" sz="1900">
                <a:solidFill>
                  <a:srgbClr val="FFFFFF"/>
                </a:solidFill>
              </a:rPr>
              <a:t>- All algorithms were tested on the EXACT same maze configuration to ensure fair comparison.</a:t>
            </a:r>
          </a:p>
          <a:p>
            <a:pPr lvl="1">
              <a:lnSpc>
                <a:spcPct val="90000"/>
              </a:lnSpc>
              <a:spcAft>
                <a:spcPts val="1000"/>
              </a:spcAft>
              <a:defRPr sz="2000"/>
            </a:pPr>
            <a:r>
              <a:rPr lang="en-US" sz="1900">
                <a:solidFill>
                  <a:srgbClr val="FFFFFF"/>
                </a:solidFill>
              </a:rPr>
              <a:t>- Start Point: (0,0) | Goal Point: (9,9).</a:t>
            </a:r>
          </a:p>
        </p:txBody>
      </p:sp>
      <p:sp>
        <p:nvSpPr>
          <p:cNvPr id="11" name="Freeform 31">
            <a:extLst>
              <a:ext uri="{FF2B5EF4-FFF2-40B4-BE49-F238E27FC236}">
                <a16:creationId xmlns:a16="http://schemas.microsoft.com/office/drawing/2014/main" id="{81CC9B02-E087-4350-AEBD-2C3CF001AF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15974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D2B5D6-F29B-9745-4F2F-086EC2B8F32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497" r="11942" b="2"/>
          <a:stretch>
            <a:fillRect/>
          </a:stretch>
        </p:blipFill>
        <p:spPr>
          <a:xfrm>
            <a:off x="7229175" y="1"/>
            <a:ext cx="4963245" cy="6858001"/>
          </a:xfrm>
          <a:custGeom>
            <a:avLst/>
            <a:gdLst/>
            <a:ahLst/>
            <a:cxnLst/>
            <a:rect l="l" t="t" r="r" b="b"/>
            <a:pathLst>
              <a:path w="4963245" h="6858001">
                <a:moveTo>
                  <a:pt x="1177" y="0"/>
                </a:moveTo>
                <a:lnTo>
                  <a:pt x="1344715" y="0"/>
                </a:lnTo>
                <a:lnTo>
                  <a:pt x="1344715" y="1"/>
                </a:lnTo>
                <a:lnTo>
                  <a:pt x="4963245" y="1"/>
                </a:lnTo>
                <a:lnTo>
                  <a:pt x="4963244" y="6858001"/>
                </a:lnTo>
                <a:lnTo>
                  <a:pt x="900697" y="6858001"/>
                </a:lnTo>
                <a:lnTo>
                  <a:pt x="900697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9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9" y="5934227"/>
                </a:lnTo>
                <a:lnTo>
                  <a:pt x="132454" y="5753862"/>
                </a:lnTo>
                <a:lnTo>
                  <a:pt x="150776" y="5561838"/>
                </a:lnTo>
                <a:lnTo>
                  <a:pt x="167753" y="5354726"/>
                </a:lnTo>
                <a:lnTo>
                  <a:pt x="184058" y="5138013"/>
                </a:lnTo>
                <a:lnTo>
                  <a:pt x="198849" y="4908956"/>
                </a:lnTo>
                <a:lnTo>
                  <a:pt x="212969" y="4670298"/>
                </a:lnTo>
                <a:lnTo>
                  <a:pt x="226248" y="4421352"/>
                </a:lnTo>
                <a:lnTo>
                  <a:pt x="230955" y="4293793"/>
                </a:lnTo>
                <a:lnTo>
                  <a:pt x="236165" y="4163492"/>
                </a:lnTo>
                <a:lnTo>
                  <a:pt x="241040" y="4031133"/>
                </a:lnTo>
                <a:lnTo>
                  <a:pt x="244234" y="3898087"/>
                </a:lnTo>
                <a:lnTo>
                  <a:pt x="247091" y="3762299"/>
                </a:lnTo>
                <a:lnTo>
                  <a:pt x="250117" y="3625139"/>
                </a:lnTo>
                <a:lnTo>
                  <a:pt x="252134" y="3485236"/>
                </a:lnTo>
                <a:lnTo>
                  <a:pt x="252134" y="3343961"/>
                </a:lnTo>
                <a:lnTo>
                  <a:pt x="253142" y="3201315"/>
                </a:lnTo>
                <a:lnTo>
                  <a:pt x="252134" y="3057297"/>
                </a:lnTo>
                <a:lnTo>
                  <a:pt x="250117" y="2911221"/>
                </a:lnTo>
                <a:lnTo>
                  <a:pt x="248268" y="2765146"/>
                </a:lnTo>
                <a:lnTo>
                  <a:pt x="244234" y="2617013"/>
                </a:lnTo>
                <a:lnTo>
                  <a:pt x="240032" y="2467509"/>
                </a:lnTo>
                <a:lnTo>
                  <a:pt x="235157" y="2318004"/>
                </a:lnTo>
                <a:lnTo>
                  <a:pt x="228266" y="2167128"/>
                </a:lnTo>
                <a:lnTo>
                  <a:pt x="220029" y="2014881"/>
                </a:lnTo>
                <a:lnTo>
                  <a:pt x="212129" y="1861947"/>
                </a:lnTo>
                <a:lnTo>
                  <a:pt x="202044" y="1709014"/>
                </a:lnTo>
                <a:lnTo>
                  <a:pt x="189941" y="1554023"/>
                </a:lnTo>
                <a:lnTo>
                  <a:pt x="177839" y="1401090"/>
                </a:lnTo>
                <a:lnTo>
                  <a:pt x="163887" y="1245413"/>
                </a:lnTo>
                <a:lnTo>
                  <a:pt x="148591" y="1089051"/>
                </a:lnTo>
                <a:lnTo>
                  <a:pt x="132455" y="934746"/>
                </a:lnTo>
                <a:lnTo>
                  <a:pt x="113629" y="778383"/>
                </a:lnTo>
                <a:lnTo>
                  <a:pt x="93458" y="622707"/>
                </a:lnTo>
                <a:lnTo>
                  <a:pt x="73455" y="466344"/>
                </a:lnTo>
                <a:lnTo>
                  <a:pt x="50091" y="310668"/>
                </a:lnTo>
                <a:lnTo>
                  <a:pt x="26222" y="155677"/>
                </a:lnTo>
                <a:close/>
              </a:path>
            </a:pathLst>
          </a:cu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3798" y="4602480"/>
            <a:ext cx="4052713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r>
              <a:rPr dirty="0"/>
              <a:t>1. A* finding a direct path.</a:t>
            </a:r>
          </a:p>
          <a:p>
            <a:r>
              <a:rPr dirty="0"/>
              <a:t>2. DFS finding a long winding path.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4E37016-5765-7C15-EE14-34811431B5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860" y="135399"/>
            <a:ext cx="5499020" cy="424355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8468F8B-B5AE-0E5A-7844-FB0749A53C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4880" y="135400"/>
            <a:ext cx="5732699" cy="424355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83829" y="1447800"/>
            <a:ext cx="4397828" cy="332958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1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Performance Data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6888422"/>
              </p:ext>
            </p:extLst>
          </p:nvPr>
        </p:nvGraphicFramePr>
        <p:xfrm>
          <a:off x="643854" y="2120634"/>
          <a:ext cx="5450560" cy="3115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58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69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38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7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62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58517">
                <a:tc>
                  <a:txBody>
                    <a:bodyPr/>
                    <a:lstStyle/>
                    <a:p>
                      <a:r>
                        <a:rPr lang="en-US" sz="1800"/>
                        <a:t>Algorithm</a:t>
                      </a:r>
                    </a:p>
                  </a:txBody>
                  <a:tcPr marL="88989" marR="88989" marT="44494" marB="44494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Status</a:t>
                      </a:r>
                    </a:p>
                  </a:txBody>
                  <a:tcPr marL="88989" marR="88989" marT="44494" marB="44494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Path Cost</a:t>
                      </a:r>
                    </a:p>
                  </a:txBody>
                  <a:tcPr marL="88989" marR="88989" marT="44494" marB="44494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Nodes Expanded</a:t>
                      </a:r>
                    </a:p>
                  </a:txBody>
                  <a:tcPr marL="88989" marR="88989" marT="44494" marB="44494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Time (ms)</a:t>
                      </a:r>
                    </a:p>
                  </a:txBody>
                  <a:tcPr marL="88989" marR="88989" marT="44494" marB="4449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551">
                <a:tc>
                  <a:txBody>
                    <a:bodyPr/>
                    <a:lstStyle/>
                    <a:p>
                      <a:r>
                        <a:rPr lang="en-US" sz="1800"/>
                        <a:t>A* Search</a:t>
                      </a:r>
                    </a:p>
                  </a:txBody>
                  <a:tcPr marL="88989" marR="88989" marT="44494" marB="44494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Success</a:t>
                      </a:r>
                    </a:p>
                  </a:txBody>
                  <a:tcPr marL="88989" marR="88989" marT="44494" marB="44494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[18]</a:t>
                      </a:r>
                    </a:p>
                  </a:txBody>
                  <a:tcPr marL="88989" marR="88989" marT="44494" marB="44494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[46]</a:t>
                      </a:r>
                    </a:p>
                  </a:txBody>
                  <a:tcPr marL="88989" marR="88989" marT="44494" marB="44494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[0.35]</a:t>
                      </a:r>
                    </a:p>
                  </a:txBody>
                  <a:tcPr marL="88989" marR="88989" marT="44494" marB="4449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551">
                <a:tc>
                  <a:txBody>
                    <a:bodyPr/>
                    <a:lstStyle/>
                    <a:p>
                      <a:r>
                        <a:rPr lang="en-US" sz="1800"/>
                        <a:t>BFS</a:t>
                      </a:r>
                    </a:p>
                  </a:txBody>
                  <a:tcPr marL="88989" marR="88989" marT="44494" marB="44494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Success</a:t>
                      </a:r>
                    </a:p>
                  </a:txBody>
                  <a:tcPr marL="88989" marR="88989" marT="44494" marB="44494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[18]</a:t>
                      </a:r>
                    </a:p>
                  </a:txBody>
                  <a:tcPr marL="88989" marR="88989" marT="44494" marB="44494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[70]</a:t>
                      </a:r>
                    </a:p>
                  </a:txBody>
                  <a:tcPr marL="88989" marR="88989" marT="44494" marB="44494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[0.15]</a:t>
                      </a:r>
                    </a:p>
                  </a:txBody>
                  <a:tcPr marL="88989" marR="88989" marT="44494" marB="4449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551">
                <a:tc>
                  <a:txBody>
                    <a:bodyPr/>
                    <a:lstStyle/>
                    <a:p>
                      <a:r>
                        <a:rPr lang="en-US" sz="1800"/>
                        <a:t>UCS</a:t>
                      </a:r>
                    </a:p>
                  </a:txBody>
                  <a:tcPr marL="88989" marR="88989" marT="44494" marB="44494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Success</a:t>
                      </a:r>
                    </a:p>
                  </a:txBody>
                  <a:tcPr marL="88989" marR="88989" marT="44494" marB="44494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[18]</a:t>
                      </a:r>
                    </a:p>
                  </a:txBody>
                  <a:tcPr marL="88989" marR="88989" marT="44494" marB="44494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[73]</a:t>
                      </a:r>
                    </a:p>
                  </a:txBody>
                  <a:tcPr marL="88989" marR="88989" marT="44494" marB="44494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[0.24]</a:t>
                      </a:r>
                    </a:p>
                  </a:txBody>
                  <a:tcPr marL="88989" marR="88989" marT="44494" marB="4449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551">
                <a:tc>
                  <a:txBody>
                    <a:bodyPr/>
                    <a:lstStyle/>
                    <a:p>
                      <a:r>
                        <a:rPr lang="en-US" sz="1800"/>
                        <a:t>DFS</a:t>
                      </a:r>
                    </a:p>
                  </a:txBody>
                  <a:tcPr marL="88989" marR="88989" marT="44494" marB="44494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Success</a:t>
                      </a:r>
                    </a:p>
                  </a:txBody>
                  <a:tcPr marL="88989" marR="88989" marT="44494" marB="44494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[26]</a:t>
                      </a:r>
                    </a:p>
                  </a:txBody>
                  <a:tcPr marL="88989" marR="88989" marT="44494" marB="44494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[46]</a:t>
                      </a:r>
                    </a:p>
                  </a:txBody>
                  <a:tcPr marL="88989" marR="88989" marT="44494" marB="44494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[0.27]</a:t>
                      </a:r>
                    </a:p>
                  </a:txBody>
                  <a:tcPr marL="88989" marR="88989" marT="44494" marB="4449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1551">
                <a:tc>
                  <a:txBody>
                    <a:bodyPr/>
                    <a:lstStyle/>
                    <a:p>
                      <a:r>
                        <a:rPr lang="en-US" sz="1800"/>
                        <a:t>IDS</a:t>
                      </a:r>
                    </a:p>
                  </a:txBody>
                  <a:tcPr marL="88989" marR="88989" marT="44494" marB="44494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Success</a:t>
                      </a:r>
                    </a:p>
                  </a:txBody>
                  <a:tcPr marL="88989" marR="88989" marT="44494" marB="44494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[18]</a:t>
                      </a:r>
                    </a:p>
                  </a:txBody>
                  <a:tcPr marL="88989" marR="88989" marT="44494" marB="44494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[47173]</a:t>
                      </a:r>
                    </a:p>
                  </a:txBody>
                  <a:tcPr marL="88989" marR="88989" marT="44494" marB="44494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[87.69]</a:t>
                      </a:r>
                    </a:p>
                  </a:txBody>
                  <a:tcPr marL="88989" marR="88989" marT="44494" marB="44494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4CD14DB-BB81-479F-A1FC-1C75640E9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943A91B-7CA7-4592-A975-73B1BF8C4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EC471314-E46A-414B-8D91-74880E84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6A681326-1C9D-44A3-A627-3871BDAE4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</p:spPr>
        <p:txBody>
          <a:bodyPr anchor="ctr">
            <a:normAutofit/>
          </a:bodyPr>
          <a:lstStyle/>
          <a:p>
            <a:pPr>
              <a:defRPr b="1">
                <a:solidFill>
                  <a:srgbClr val="0F172A"/>
                </a:solidFill>
              </a:defRPr>
            </a:pPr>
            <a:r>
              <a:rPr lang="en-US">
                <a:solidFill>
                  <a:srgbClr val="FFFFFF"/>
                </a:solidFill>
              </a:rPr>
              <a:t>Analysis: Time Complexity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763520"/>
            <a:ext cx="8946541" cy="348487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  <a:defRPr sz="2000"/>
            </a:pPr>
            <a:r>
              <a:rPr lang="en-US" sz="1900" b="1" dirty="0"/>
              <a:t>Fastest: A* Search</a:t>
            </a:r>
          </a:p>
          <a:p>
            <a:pPr lvl="1">
              <a:lnSpc>
                <a:spcPct val="90000"/>
              </a:lnSpc>
              <a:spcAft>
                <a:spcPts val="1000"/>
              </a:spcAft>
              <a:defRPr sz="2000"/>
            </a:pPr>
            <a:r>
              <a:rPr lang="en-US" sz="1900" b="1" dirty="0"/>
              <a:t>- Excels because the heuristic guides it straight to the goal, skipping irrelevant paths.</a:t>
            </a:r>
          </a:p>
          <a:p>
            <a:pPr>
              <a:lnSpc>
                <a:spcPct val="90000"/>
              </a:lnSpc>
              <a:spcAft>
                <a:spcPts val="1000"/>
              </a:spcAft>
              <a:defRPr sz="2000"/>
            </a:pPr>
            <a:r>
              <a:rPr lang="en-US" sz="1900" b="1" dirty="0"/>
              <a:t>Moderate: BFS and UCS</a:t>
            </a:r>
          </a:p>
          <a:p>
            <a:pPr lvl="1">
              <a:lnSpc>
                <a:spcPct val="90000"/>
              </a:lnSpc>
              <a:spcAft>
                <a:spcPts val="1000"/>
              </a:spcAft>
              <a:defRPr sz="2000"/>
            </a:pPr>
            <a:r>
              <a:rPr lang="en-US" sz="1900" b="1" dirty="0"/>
              <a:t>- Reasonably fast but explore all neighbors at the current depth.</a:t>
            </a:r>
          </a:p>
          <a:p>
            <a:pPr>
              <a:lnSpc>
                <a:spcPct val="90000"/>
              </a:lnSpc>
              <a:spcAft>
                <a:spcPts val="1000"/>
              </a:spcAft>
              <a:defRPr sz="2000"/>
            </a:pPr>
            <a:r>
              <a:rPr lang="en-US" sz="1900" b="1" dirty="0"/>
              <a:t>Slowest: IDS</a:t>
            </a:r>
          </a:p>
          <a:p>
            <a:pPr lvl="1">
              <a:lnSpc>
                <a:spcPct val="90000"/>
              </a:lnSpc>
              <a:spcAft>
                <a:spcPts val="1000"/>
              </a:spcAft>
              <a:defRPr sz="2000"/>
            </a:pPr>
            <a:r>
              <a:rPr lang="en-US" sz="1900" b="1" dirty="0"/>
              <a:t>- Significantly slower because it restarts the search from scratch for every new depth limit.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82381" y="629266"/>
            <a:ext cx="4767471" cy="164198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defRPr b="1">
                <a:solidFill>
                  <a:srgbClr val="0F172A"/>
                </a:solidFill>
              </a:defRPr>
            </a:pPr>
            <a:r>
              <a:rPr lang="en-US" sz="3600"/>
              <a:t>Analysis: Space Complexity &amp; Optimality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52D20B-EE47-A295-7AF1-D25349FB1D4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649" r="39167" b="-445"/>
          <a:stretch>
            <a:fillRect/>
          </a:stretch>
        </p:blipFill>
        <p:spPr>
          <a:xfrm>
            <a:off x="-1" y="10"/>
            <a:ext cx="4634680" cy="685799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82381" y="2438400"/>
            <a:ext cx="4767471" cy="380999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  <a:defRPr sz="2000"/>
            </a:pPr>
            <a:r>
              <a:rPr lang="en-US" sz="1600"/>
              <a:t>Space (Memory):</a:t>
            </a:r>
          </a:p>
          <a:p>
            <a:pPr lvl="1">
              <a:lnSpc>
                <a:spcPct val="90000"/>
              </a:lnSpc>
              <a:spcAft>
                <a:spcPts val="1000"/>
              </a:spcAft>
              <a:defRPr sz="2000"/>
            </a:pPr>
            <a:r>
              <a:rPr lang="en-US" sz="1600"/>
              <a:t>- DFS &amp; IDS are the most memory-efficient (Linear Space).</a:t>
            </a:r>
          </a:p>
          <a:p>
            <a:pPr lvl="1">
              <a:lnSpc>
                <a:spcPct val="90000"/>
              </a:lnSpc>
              <a:spcAft>
                <a:spcPts val="1000"/>
              </a:spcAft>
              <a:defRPr sz="2000"/>
            </a:pPr>
            <a:r>
              <a:rPr lang="en-US" sz="1600"/>
              <a:t>- BFS consumes the most memory (Exponential Space) to store the frontier.</a:t>
            </a:r>
          </a:p>
          <a:p>
            <a:pPr>
              <a:lnSpc>
                <a:spcPct val="90000"/>
              </a:lnSpc>
              <a:spcAft>
                <a:spcPts val="1000"/>
              </a:spcAft>
              <a:defRPr sz="2000"/>
            </a:pPr>
            <a:r>
              <a:rPr lang="en-US" sz="1600"/>
              <a:t>Optimality (Path Quality):</a:t>
            </a:r>
          </a:p>
          <a:p>
            <a:pPr lvl="1">
              <a:lnSpc>
                <a:spcPct val="90000"/>
              </a:lnSpc>
              <a:spcAft>
                <a:spcPts val="1000"/>
              </a:spcAft>
              <a:defRPr sz="2000"/>
            </a:pPr>
            <a:r>
              <a:rPr lang="en-US" sz="1600"/>
              <a:t>- A*, BFS, UCS, IDS: All successfully found the Shortest Path.</a:t>
            </a:r>
          </a:p>
          <a:p>
            <a:pPr lvl="1">
              <a:lnSpc>
                <a:spcPct val="90000"/>
              </a:lnSpc>
              <a:spcAft>
                <a:spcPts val="1000"/>
              </a:spcAft>
              <a:defRPr sz="2000"/>
            </a:pPr>
            <a:r>
              <a:rPr lang="en-US" sz="1600"/>
              <a:t>- DFS: Failed to find the shortest path, returning a sub-optimal solution.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74CD14DB-BB81-479F-A1FC-1C75640E9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943A91B-7CA7-4592-A975-73B1BF8C4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Freeform 7">
            <a:extLst>
              <a:ext uri="{FF2B5EF4-FFF2-40B4-BE49-F238E27FC236}">
                <a16:creationId xmlns:a16="http://schemas.microsoft.com/office/drawing/2014/main" id="{EC471314-E46A-414B-8D91-74880E84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9" name="Freeform: Shape 18">
            <a:extLst>
              <a:ext uri="{FF2B5EF4-FFF2-40B4-BE49-F238E27FC236}">
                <a16:creationId xmlns:a16="http://schemas.microsoft.com/office/drawing/2014/main" id="{6A681326-1C9D-44A3-A627-3871BDAE4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</p:spPr>
        <p:txBody>
          <a:bodyPr anchor="ctr">
            <a:normAutofit/>
          </a:bodyPr>
          <a:lstStyle/>
          <a:p>
            <a:pPr>
              <a:defRPr b="1">
                <a:solidFill>
                  <a:srgbClr val="0F172A"/>
                </a:solidFill>
              </a:defRPr>
            </a:pPr>
            <a:r>
              <a:rPr lang="en-US">
                <a:solidFill>
                  <a:srgbClr val="FFFFFF"/>
                </a:solidFill>
              </a:rPr>
              <a:t>Conclusion &amp; Verdict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763520"/>
            <a:ext cx="8946541" cy="348487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  <a:defRPr sz="2000"/>
            </a:pPr>
            <a:r>
              <a:rPr lang="en-US" sz="1700" b="1"/>
              <a:t>Winner: A* Search</a:t>
            </a:r>
          </a:p>
          <a:p>
            <a:pPr lvl="1">
              <a:lnSpc>
                <a:spcPct val="90000"/>
              </a:lnSpc>
              <a:spcAft>
                <a:spcPts val="1000"/>
              </a:spcAft>
              <a:defRPr sz="2000"/>
            </a:pPr>
            <a:r>
              <a:rPr lang="en-US" sz="1700" b="1"/>
              <a:t>- The superior choice for pathfinding in grid environments. Best balance of speed and solution quality.</a:t>
            </a:r>
          </a:p>
          <a:p>
            <a:pPr>
              <a:lnSpc>
                <a:spcPct val="90000"/>
              </a:lnSpc>
              <a:spcAft>
                <a:spcPts val="1000"/>
              </a:spcAft>
              <a:defRPr sz="2000"/>
            </a:pPr>
            <a:r>
              <a:rPr lang="en-US" sz="1700" b="1"/>
              <a:t>Reliable Runner-ups: BFS and UCS</a:t>
            </a:r>
          </a:p>
          <a:p>
            <a:pPr lvl="1">
              <a:lnSpc>
                <a:spcPct val="90000"/>
              </a:lnSpc>
              <a:spcAft>
                <a:spcPts val="1000"/>
              </a:spcAft>
              <a:defRPr sz="2000"/>
            </a:pPr>
            <a:r>
              <a:rPr lang="en-US" sz="1700" b="1"/>
              <a:t>- Dependable for finding optimal paths but require more memory.</a:t>
            </a:r>
          </a:p>
          <a:p>
            <a:pPr>
              <a:lnSpc>
                <a:spcPct val="90000"/>
              </a:lnSpc>
              <a:spcAft>
                <a:spcPts val="1000"/>
              </a:spcAft>
              <a:defRPr sz="2000"/>
            </a:pPr>
            <a:r>
              <a:rPr lang="en-US" sz="1700" b="1"/>
              <a:t>Not Recommended:</a:t>
            </a:r>
          </a:p>
          <a:p>
            <a:pPr lvl="1">
              <a:lnSpc>
                <a:spcPct val="90000"/>
              </a:lnSpc>
              <a:spcAft>
                <a:spcPts val="1000"/>
              </a:spcAft>
              <a:defRPr sz="2000"/>
            </a:pPr>
            <a:r>
              <a:rPr lang="en-US" sz="1700" b="1"/>
              <a:t>- DFS (due to poor path quality).</a:t>
            </a:r>
          </a:p>
          <a:p>
            <a:pPr lvl="1">
              <a:lnSpc>
                <a:spcPct val="90000"/>
              </a:lnSpc>
              <a:spcAft>
                <a:spcPts val="1000"/>
              </a:spcAft>
              <a:defRPr sz="2000"/>
            </a:pPr>
            <a:r>
              <a:rPr lang="en-US" sz="1700" b="1"/>
              <a:t>- IDS (due to slow execution speed).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DCA251B-4F28-43A9-A5FD-47101E24C8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7B3E067-68A1-4E6F-8B2A-DF0DC2803F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4" cy="6858000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63486" y="1266958"/>
            <a:ext cx="2569028" cy="4528457"/>
          </a:xfrm>
        </p:spPr>
        <p:txBody>
          <a:bodyPr anchor="ctr">
            <a:normAutofit/>
          </a:bodyPr>
          <a:lstStyle/>
          <a:p>
            <a:pPr algn="r"/>
            <a:r>
              <a:rPr lang="en-US">
                <a:solidFill>
                  <a:srgbClr val="FFFFFF"/>
                </a:solidFill>
              </a:rPr>
              <a:t>Any Questions?</a:t>
            </a:r>
          </a:p>
          <a:p>
            <a:pPr algn="r"/>
            <a:endParaRPr lang="en-US">
              <a:solidFill>
                <a:srgbClr val="FFFFFF"/>
              </a:solidFill>
            </a:endParaRPr>
          </a:p>
          <a:p>
            <a:pPr algn="r"/>
            <a:r>
              <a:rPr lang="en-US">
                <a:solidFill>
                  <a:srgbClr val="FFFFFF"/>
                </a:solidFill>
              </a:rPr>
              <a:t>Credits: Team 8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48F0EEF-7B63-4EC4-96D4-6AFBF46B1A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38656" cy="6858000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FB5E673-6D85-4457-A048-FD09048DCE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214033" y="1266958"/>
            <a:ext cx="6248624" cy="4528457"/>
          </a:xfrm>
        </p:spPr>
        <p:txBody>
          <a:bodyPr anchor="ctr">
            <a:normAutofit/>
          </a:bodyPr>
          <a:lstStyle/>
          <a:p>
            <a:r>
              <a:rPr lang="en-US"/>
              <a:t>Thank You!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</TotalTime>
  <Words>1056</Words>
  <Application>Microsoft Office PowerPoint</Application>
  <PresentationFormat>Widescreen</PresentationFormat>
  <Paragraphs>143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Century Gothic</vt:lpstr>
      <vt:lpstr>Wingdings 3</vt:lpstr>
      <vt:lpstr>Ion</vt:lpstr>
      <vt:lpstr>Comparative Analysis of Search Strategies for Maze Pathfinding</vt:lpstr>
      <vt:lpstr>The Challenge: Maze Pathfinding</vt:lpstr>
      <vt:lpstr>Methodology Overview</vt:lpstr>
      <vt:lpstr>Algorithm 1: Breadth-First Search (BFS)</vt:lpstr>
      <vt:lpstr>Algorithm 2: Depth-First Search (DFS)</vt:lpstr>
      <vt:lpstr>Algorithm 3: Uniform-Cost Search (UCS)</vt:lpstr>
      <vt:lpstr>Algorithm 4: Iterative Deepening Search (IDS)</vt:lpstr>
      <vt:lpstr>Algorithm 5: A* Search (The Best)</vt:lpstr>
      <vt:lpstr>Code Implementation Details</vt:lpstr>
      <vt:lpstr>Experimental Setup</vt:lpstr>
      <vt:lpstr>PowerPoint Presentation</vt:lpstr>
      <vt:lpstr>Performance Data Comparison</vt:lpstr>
      <vt:lpstr>Analysis: Time Complexity</vt:lpstr>
      <vt:lpstr>Analysis: Space Complexity &amp; Optimality</vt:lpstr>
      <vt:lpstr>Conclusion &amp; Verdict</vt:lpstr>
      <vt:lpstr>Thank You!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eslam gamal mohamed</cp:lastModifiedBy>
  <cp:revision>7</cp:revision>
  <dcterms:created xsi:type="dcterms:W3CDTF">2013-01-27T09:14:16Z</dcterms:created>
  <dcterms:modified xsi:type="dcterms:W3CDTF">2025-12-20T00:27:23Z</dcterms:modified>
  <cp:category/>
</cp:coreProperties>
</file>